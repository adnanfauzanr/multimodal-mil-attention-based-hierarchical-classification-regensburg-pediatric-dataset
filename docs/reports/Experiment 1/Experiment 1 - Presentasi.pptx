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 i="0">
                <a:solidFill>
                  <a:srgbClr val="000000"/>
                </a:solidFill>
                <a:latin typeface="Calibri"/>
              </a:rPr>
              <a:t>Hierarchical Multimodal Classification of Pediatric Appendicitis Using Dual-Branch Attention-Based Multiple Instance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000000"/>
                </a:solidFill>
                <a:latin typeface="Calibri"/>
              </a:rPr>
              <a:t>Laporan Progress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Adnan Fauzan Ramdhani  |  NRP 6025261004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Mata Kuliah: Topik Dalam Pengolahan Citra Digital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Institut Teknologi Sepuluh Nopember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Dataset mentah sebelum preprocessing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Regensburg Pediatric Appendicitis Dataset (Marcinkevičs dkk., 2023/2024)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669279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49485"/>
                <a:gridCol w="1619794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Jumlah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Baris data klinis (app_data.xlsx)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   - dengan US_Number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760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Pasien dengan citra USG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707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Total file citra USG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2.097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Rata-rata citra per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2,97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Median citra per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Minimum citra per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Maksimum citra per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Setiap pasien memiliki satu data klinis dan satu atau lebih citra USG (view)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Kolom klinis mentah: 58, termasuk target (Diagnosis, Severity, Management) dan diagnosis dugaan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Pasien klinis tanpa citra: 181; pasien citra tanpa klinis: 128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Calibri"/>
              </a:rPr>
              <a:t>• Citra mentah berformat BMP (2.064), PNG (31), JPG (2)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53 fitur data klinis (1/3)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Nama fitur sesuai kolom dataset; missing = persentase pada data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7" cy="50383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1422"/>
                <a:gridCol w="2349249"/>
                <a:gridCol w="2981739"/>
                <a:gridCol w="3162450"/>
                <a:gridCol w="1897470"/>
                <a:gridCol w="677667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Penjelasan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Tipe data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Missing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Usia pasien (tahun)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Sex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Jenis kelamin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(female/male)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Tinggi badan (cm)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Berat badan (kg)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BMI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Indeks massa tubuh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Length_of_Stay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Lama rawat inap (hari)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Demografi &amp; antropometri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Alvarado_Score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Skor Alvarado untuk apendisitis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diskret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Skor klinis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Paedriatic_Appendicitis_Score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Skor apendisitis pediatrik (PAS)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diskret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Skor klinis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Peritonitis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Peritonitis (tidak, lokal, menyeluruh)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ordinal (no/local/generalized)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Migratory_Pain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berpindah ke perut kanan bawah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Lower_Right_Abd_Pain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perut kanan bawah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Contralateral_Rebound_Tenderness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lepas tekan sisi berlawanan (Rovsing)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Ipsilateral_Rebound_Tenderness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lepas tekan sisi yang sama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Coughing_Pain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saat batuk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Psoas_Sign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Tanda psoas positif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Nausea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Mual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Loss_of_Appetite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Hilang nafsu makan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Body_Temperature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Suhu tubuh (°C)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53 fitur data klinis (2/3)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Nama fitur sesuai kolom dataset; missing = persentase pada data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7" cy="50383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1422"/>
                <a:gridCol w="2349249"/>
                <a:gridCol w="2981739"/>
                <a:gridCol w="3162450"/>
                <a:gridCol w="1897470"/>
                <a:gridCol w="677667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Penjelasan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Tipe data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Missing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Dysuria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Nyeri saat buang air kecil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Stool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Kondisi tinja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(normal/diare/konstipasi/keduanya)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Gejala &amp; pemeriksaan fisik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WBC_Count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Jumlah leukosit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RBC_Count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Jumlah eritrosit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Hemoglobin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Kadar hemoglobin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RDW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Lebar distribusi eritrosit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Thrombocyte_Count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Jumlah trombosit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Neutrophil_Percentage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Persentase neutrofil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Neutrophilia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Neutrofilia (neutrofil tinggi)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Segmented_Neutrophils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Persentase neutrofil segmen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93.5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CRP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C-reactive protein (penanda inflamasi)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Laboratorium darah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Ketones_in_Urine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Keton dalam urin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ordinal (no/+/++/+++)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Urinalisis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RBC_in_Urine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Eritrosit dalam urin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ordinal (no/+/++/+++)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Urinalisis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26.0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WBC_in_Urine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Leukosit dalam urin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ordinal (no/+/++/+++)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Urinalisis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US_Performed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USG dilakukan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Appendix_on_US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Apendiks terlihat pada USG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Appendix_Diameter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Diameter apendiks (mm)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Numerik kontinu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Free_Fluids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Cairan bebas di rongga perut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53 fitur data klinis (3/3)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Nama fitur sesuai kolom dataset; missing = persentase pada data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7" cy="47731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1422"/>
                <a:gridCol w="2349249"/>
                <a:gridCol w="2981739"/>
                <a:gridCol w="3162450"/>
                <a:gridCol w="1897470"/>
                <a:gridCol w="677667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Fitur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Penjelasan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Tipe data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Kategori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Missing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Appendix_Wall_Layers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Lapisan dinding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(intact/raised/partially raised/upset)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66.9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Target_Sign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Target sign pada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79.9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Perfusion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Perfusi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(no/present/hypo/hyperperfused)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89.7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Surrounding_Tissue_Reaction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Reaksi jaringan sekitar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65.6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Pathological_Lymph_Nodes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Kelenjar getah bening patologis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72.1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Lymph_Nodes_Location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Lokasi kelenjar getah bening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(teks bebas, Jerman)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83.5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Bowel_Wall_Thickening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Penebalan dinding usus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85.9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Ileus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Ileus (sumbatan usus)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91.6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Coprostasis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Penumpukan feses (koprostasis)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91.1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Meteorism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Meteorismus (gas berlebih di usus)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83.7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Enteritis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Enteritis (radang usus)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91.3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Appendicolith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Batu/fekalit di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(no/yes/suspected)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90.2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Perforation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Perforasi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(no/yes/suspected/not excluded)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87.8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Appendicular_Abscess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Abses apendiks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(no/yes/suspected)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88.3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Abscess_Location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Lokasi abses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(teks bebas, Jerman)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97.8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Conglomerate_of_Bowel_Loops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Gumpalan lengkung usus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biner (no/yes)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93.8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Gynecological_Findings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ginekologis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Kategorik nominal (teks bebas, Jerman)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Temuan USG (dokter)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98.1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Ringkasan: 17 fitur numerik dan 36 fitur kategorik.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1: pembersihan data dan pencocokan US_Number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Acuan pipeline: Barthwal dkk. (2026)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79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89131"/>
                <a:gridCol w="1475652"/>
                <a:gridCol w="5533696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Langkah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Data klinis mentah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baris pada app_data.xlsx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Hapus baris tanpa US_Number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760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22 baris tidak dapat dipasangkan dengan 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Hapus pasien klinis tanpa 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579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181 pasien dikeluarkan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(Citra tanpa data klinis)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128 pasien citra dikeluarkan (dari 707 pasien citra)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Hapus label salah/tidak valid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 pasien (US_Number 557: Diagnosis kosong)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Data akhir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578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1.739 citra USG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83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Rata-rata citra per pasien setelah pembersihan: 3.01 (median 2, minimum 1, maksimum 15)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179 pasien hanya memiliki 1 citra dan 399 pasien memiliki lebih dari 1 citra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Jumlah citra akhir dihitung setelah citra berisi beberapa snapshot (daftar multiple_in_one) dipisah per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2: pembentukan label target hierarkis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Menggabungkan kolom Diagnosis dan Severity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79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47257"/>
                <a:gridCol w="2241586"/>
                <a:gridCol w="4075611"/>
                <a:gridCol w="1834025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Label tiga kelas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/>
                        </a:rPr>
                        <a:t>Jumlah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no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(diabaikan)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0: No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uncomplicated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1: Uncomplicated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2: Complicated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3832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Dua keputusan bertingkat: p = P(appendicitis | citra, klinis); q = P(complicated | appendicitis, citra, klinis)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P0 = 1 - p;  P1 = p x (1 - q);  P2 = p x q  (P0 + P1 + P2 = 1)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Kelas mayoritas uncomplicated (49,7%); kelas complicated hanya 16,6%, sehingga metrik harus memperhatikan ketidakseimbangan kelas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Severity hanya bermakna bila Diagnosis = appendicitis, sehingga severity dimodelkan bersyarat pada diagnosis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3: split berdasarkan pasien (US_Number)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Mencegah data leakage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Split dilakukan pada level pasien: data klinis dan semua citra USG satu pasien selalu berada pada bagian yang sama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Tahap 1: 80% development : 20% testing (stratified berdasarkan label tiga kelas, seed 1)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Tahap 2: 80% development dibagi lagi 80% training : 20% validasi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Proporsi akhir kira-kira 64% train : 16% validasi : 20% test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749039"/>
          <a:ext cx="10698477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28354"/>
                <a:gridCol w="1146265"/>
                <a:gridCol w="1146265"/>
                <a:gridCol w="2292531"/>
                <a:gridCol w="2292531"/>
                <a:gridCol w="2292531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Bagian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No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Uncomplicated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369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1121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125 (33.88%)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182 (49.32%)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62 (16.80%)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Validasi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273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32 (34.41%)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46 (49.46%)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15 (16.13%)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345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39 (33.62%)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58 (50.00%)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19 (16.38%)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1739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4: imputasi dan normalisasi data klinis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Semua parameter dipelajari hanya dari data train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Imputasi (fit pada train):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Missing &lt;= 50%: KNN imputer, k = 5 (35 fitur)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Missing &gt; 50%, numerik: median train (1 fitur: Segmented_Neutrophils, 93,5% missing)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Missing &gt; 50%, kategorik: kategori baru "Missing" (17 fitur)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Normalisasi / encoding (fit pada train):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Fitur numerik: RobustScaler (median dan IQR, tahan terhadap outlier)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Fitur kategorik: OrdinalEncoder, nilai Missing = -1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Penerapan ke validasi dan test: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Imputer, scaler, dan encoder dari train dipakai ulang (transform saja, tanpa fit ulang) pada validasi dan test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Hasil: vektor 53 fitur per pasien sebagai input cabang MLP klinis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citra (1/2): transformasi per citra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Konversi grayscale, lalu resize letterbox ke 224 x 224 (sisi terpanjang ke 224, rasio aspek dijaga, sisa diisi hitam)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Piksel citra train diskalakan ke rentang 0 - 1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Normalisasi mean dan standar deviasi dari data train (mean 0.0881, std 0.1535)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Augmentasi (hanya train):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rotasi +/- 10 derajat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pergeseran maksimal 5%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zoom 0,9 - 1,1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perubahan brightness (+/- 10%)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noise Gaussian mean 0, std 0,01 pada citra skala 0 - 1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Citra grayscale diduplikasi menjadi 3 kanal agar sesuai input ResNet18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Contoh citra sebelum dan sesudah preprocessing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Sampel: 1.1 RLQ_Pathological Lymphnodes.png (pasien 1, data train)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r06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3991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Augmentasi (rotasi, geser, zoom, brightness, noise Gaussian) hanya diterapkan pada data train dan bersifat acak. Input model selanjutnya diduplikasi menjadi 3 kanal dan distandardisasi dengan mean/std train.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Preprocessing citra (2/2): bag per pasien, padding, dan urutan citra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Setiap pasien = satu bag berisi 1 - 15 citra (rata-rata 3,01)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Bag diberi padding agar ukuran batch seragam; image mask menandai citra asli dan padding sehingga padding tidak dipakai oleh attention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Urutan citra dalam bag: berdasarkan nomor file (US_Number), lalu nomor view, panel, dan ID citra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Format nama file: &lt;nomor pasien&gt;.&lt;nomor view&gt; &lt;deskripsi&gt;.&lt;ekstensi&gt;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77639"/>
          <a:ext cx="7863837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3104"/>
                <a:gridCol w="3164716"/>
                <a:gridCol w="2301611"/>
                <a:gridCol w="767203"/>
                <a:gridCol w="767203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Urutan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File asli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ID 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View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Panel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5.1 Appendix.png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S0005_V01_P01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5.2 Appendix.png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S0005_V02_P01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5.3 Appendix.bmp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S0005_V03_P01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Contoh: pasien 5 memiliki 3 citra. Contoh lain: "1.1 RLQ_Pathological Lymphnodes.png", "1.4 Appendix.png"; ID dengan akhiran _D02 menandai duplikat file (mis. 1.4 Appendix.png.bmp), P02 menandai panel kedua dari citra multi-snapshot.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Fine tuning (1/3): rancangan pencarian 36 skenario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3 kondisi backbone ResNet18 x 3 optimizer x 4 profil hyperparameter (P1 - P4)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38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53737"/>
                <a:gridCol w="1685979"/>
                <a:gridCol w="1369858"/>
                <a:gridCol w="1685979"/>
                <a:gridCol w="5268685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Profil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Karakter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LR sedang, regularisasi sedang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LR tinggi, regularisasi ringan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LR sangat rendah, regularisasi kuat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LR sedang, dropout kuat, weight decay ringan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520440"/>
          <a:ext cx="6766558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36808"/>
                <a:gridCol w="1246471"/>
                <a:gridCol w="1780673"/>
                <a:gridCol w="160260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Kondisi backbone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Pretrained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Backbone dilatih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LR backbone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Tidak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 x LR utama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0,1 x LR utama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ImageNet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Tidak (mode eval)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347472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Optimizer: Adam, AdamW, SGD (momentum 0,9, Nesterov)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Seed 1, batch 16, maksimum 100 epoch, early stopping patience 25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Checkpoint dan pemilihan model terbaik: macro-F1 validasi tertinggi (tie: validation loss lebih rendah)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Bukan grid penuh 162 kombinasi: 4 profil ditentukan di awal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Fine tuning (2/3): ID skenario, parameter, dan jumlah epoch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6" cy="50383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5241"/>
                <a:gridCol w="2027903"/>
                <a:gridCol w="1106129"/>
                <a:gridCol w="737419"/>
                <a:gridCol w="829596"/>
                <a:gridCol w="921774"/>
                <a:gridCol w="1198306"/>
                <a:gridCol w="1382661"/>
                <a:gridCol w="1198306"/>
                <a:gridCol w="1382661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Profil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Epoch dijalankan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Epoch terbaik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Val macro-F1 %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78.77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82.78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63.82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70.29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83.31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64.56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S09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22.22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69.01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32.94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24.35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70.13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74.91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35.74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69.61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69.47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80.32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Fine tuning (3/3): ID skenario, parameter, dan jumlah epoch (lanjutan)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29996" cy="50383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5241"/>
                <a:gridCol w="2027903"/>
                <a:gridCol w="1106129"/>
                <a:gridCol w="737419"/>
                <a:gridCol w="829596"/>
                <a:gridCol w="921774"/>
                <a:gridCol w="1198306"/>
                <a:gridCol w="1382661"/>
                <a:gridCol w="1198306"/>
                <a:gridCol w="1382661"/>
              </a:tblGrid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Profil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Dropout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Epoch dijalankan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Epoch terbaik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000000"/>
                          </a:solidFill>
                          <a:latin typeface="Calibri"/>
                        </a:rPr>
                        <a:t>Val macro-F1 %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S19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35.74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69.72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32.30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68.76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38.34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trainable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31.20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84.11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86.85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28.40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S29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83.29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85.13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28.40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33.84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S36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Pretrained frozen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SGD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P4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0,7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000000"/>
                          </a:solidFill>
                          <a:latin typeface="Calibri"/>
                        </a:rPr>
                        <a:t>22.06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Epoch dijalankan = jumlah epoch sebelum training berhenti (early stopping patience 25 atau maksimum 100). Baris yang diarsir = model terbaik (S26).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Macro-F1: ukuran penentu model terbaik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F1 per kelas = 2 x Precision x Recall / (Precision + Recall)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Macro-F1 = rata-rata F1 ketiga kelas dengan bobot sama (tanpa memperhatikan jumlah sampel)</a:t>
            </a:r>
          </a:p>
          <a:p>
            <a:pPr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Mengapa dipakai untuk menentukan best model: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Kelas tidak seimbang (complicated hanya 16,6%): akurasi dapat tinggi walau kelas minoritas diabaikan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Semua kelas dihitung sama, sehingga kegagalan pada kelas complicated tercermin pada skor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    – Satu angka yang menggabungkan precision dan recall, penting untuk konteks klinis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• Contoh model terbaik (test): 82.35, 77.36, 78.05 -&gt; rata-rata 79.25%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Hasil 36 model fine tuning (validasi) dan performa model terbaik S26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pic>
        <p:nvPicPr>
          <p:cNvPr id="5" name="Picture 4" descr="r01_heatmap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3721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37160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Model terbaik: S26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    – Pretrained frozen, Adam, P2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    – Epoch terbaik 25, berhenti epoch 50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Kombinasi lain umumnya lebih rendah; beberapa runtuh ke macro-F1 ~22% (menebak satu kelas)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5074920"/>
          <a:ext cx="11064240" cy="914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88.17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88.86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86.04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93.46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86.85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/>
                        </a:rPr>
                        <a:t>92.31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Calibri"/>
              </a:rPr>
              <a:t>Performa lengkap S26 pada data validasi (%); precision, sensitivity, specificity = rata-rata makro tiga kelas, AUROC = macro one-vs-rest.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Grafik training S26: loss, akurasi, macro-F1, dan AUROC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r02_kurva_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8805333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Epoch terbaik 25 (garis titik): train macro-F1 92.36% vs validasi 86.85%. Training berhenti di epoch 50 (patience 25). Selisih train-validasi menunjukkan overfitting moderat.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Testing model terbaik S26 (data test, n = 116 pasien)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pic>
        <p:nvPicPr>
          <p:cNvPr id="5" name="Picture 4" descr="r03_cm_mult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4075611" cy="35661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280160"/>
          <a:ext cx="6766559" cy="23682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684541"/>
                <a:gridCol w="2082018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Metrik (tiga kelas)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Nilai %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Precision (makro)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78.08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Sensitivity (makro)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Specificity (makro)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79.25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AUROC (makro OvR)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0" y="3749039"/>
          <a:ext cx="6766557" cy="13533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58741"/>
                <a:gridCol w="623235"/>
                <a:gridCol w="1068404"/>
                <a:gridCol w="979370"/>
                <a:gridCol w="890336"/>
                <a:gridCol w="1246471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Kelas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No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76.09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82.35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85.71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Uncomplicated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85.42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70.69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77.36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87.93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72.73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84.21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78.05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93.81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9377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Kesalahan terbesar: 11 pasien uncomplicated diprediksi no appendicitis dan 6 diprediksi complicated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Inferensi dengan satu modalitas dimatikan (model S26 yang sama)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Bobot tidak dilatih ulang; embedding satu cabang diganti nol saat inferensi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16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7714"/>
                <a:gridCol w="1215904"/>
                <a:gridCol w="1215904"/>
                <a:gridCol w="1317230"/>
                <a:gridCol w="1317230"/>
                <a:gridCol w="1317230"/>
                <a:gridCol w="1215904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Inferensi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Multimodal (utuh)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79.31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78.08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81.55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89.15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79.25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90.41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Citra dimatikan (klinis saja)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77.59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77.31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77.14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87.83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76.66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90.12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Data klinis dimatikan (citra saja)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31.03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42.85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41.40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69.98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30.91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60.61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r04_cm_abl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54680"/>
            <a:ext cx="6005649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315468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</a:rPr>
              <a:t>• Menonaktifkan citra: macro-F1 turun 79,25 -&gt; 76,66; model sangat bergantung pada data klinis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</a:rPr>
              <a:t>• Menonaktifkan klinis: macro-F1 turun ke 30,91, mendekati tebakan; cabang citra sendiri tidak cukup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000000"/>
                </a:solidFill>
                <a:latin typeface="Calibri"/>
              </a:rPr>
              <a:t>• Nol dapat berada di luar distribusi pelatihan, sehingga ini bukan model unimodal yang dilatih sendiri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Multimodal vs MLP klinis mandiri vs MIL-Attention citra mandiri (data test)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Dua model mandiri dilatih ulang dari awal dengan parameter S26 dan pasien yang sama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16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7714"/>
                <a:gridCol w="1215904"/>
                <a:gridCol w="1215904"/>
                <a:gridCol w="1317230"/>
                <a:gridCol w="1317230"/>
                <a:gridCol w="1317230"/>
                <a:gridCol w="121590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Multimodal (S26)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79.31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78.08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81.55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89.15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79.25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90.41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MLP klinis mandiri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70.86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69.64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84.03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69.95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87.90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MIL-Attention citra mandiri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50.86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53.39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43.89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71.39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44.09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64.49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Multimodal unggul pada semua metrik dibanding kedua model mandiri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MLP klinis mandiri jauh lebih kuat daripada MIL-Attention citra mandiri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MIL-Attention citra mandiri mendekati tebakan pada kelas complicated (recall 15,79%)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Hasil berasal dari satu split dan satu seed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Confusion matrix perbandingan pada data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pic>
        <p:nvPicPr>
          <p:cNvPr id="5" name="Picture 4" descr="r05_cm_perbandin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3782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Baris = kelas aktual, kolom = prediksi. Angka = jumlah pasien (persentase terhadap baris). Total 116 pasien: 39 no appendicitis, 58 uncomplicated, 19 complicated.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Performa S26 menurut jumlah citra per pasien (data test)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11429997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32857"/>
                <a:gridCol w="864453"/>
                <a:gridCol w="2305210"/>
                <a:gridCol w="1056554"/>
                <a:gridCol w="1056554"/>
                <a:gridCol w="1152605"/>
                <a:gridCol w="1152605"/>
                <a:gridCol w="1152605"/>
                <a:gridCol w="1056554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Kelompok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No / Uncompl. / Compl.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Semua pasien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39 / 58 / 19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78.08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79.25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 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19 / 8 / 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86.49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84.10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80.00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92.68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80.75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89.81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&gt; 1 citra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20 / 50 / 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75.95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71.23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77.26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86.11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73.56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87.40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1155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Pasien dengan 1 citra mendapat skor lebih tinggi (macro-F1 80,75%) dibanding &gt; 1 citra (73,56%)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Komposisi kelas berbeda: kelompok 1 citra didominasi no appendicitis dan complicated, kelompok &gt; 1 citra didominasi uncomplicated (50 dari 79)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Jumlah pasien 1 citra hanya 37 (complicated hanya 10 pada 1 citra dan 9 pada &gt; 1 citra), sehingga interval ketidakpastian lebar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• Perbedaan ini tidak bisa dianggap efek jumlah citra saja karena komposisi kelas berbeda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Perbandingan model yang dilatih khusus sesuai tugasnya (data test, 116 pasien)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Setiap model dilatih terpisah dari awal dengan parameter S26 dan diuji pada pasien test yang sama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29996" cy="2514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18387"/>
                <a:gridCol w="2580967"/>
                <a:gridCol w="921774"/>
                <a:gridCol w="921774"/>
                <a:gridCol w="1013951"/>
                <a:gridCol w="1013951"/>
                <a:gridCol w="829596"/>
                <a:gridCol w="829596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Tugas / cara hitung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1. Hierarkis (model terbaik S26)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 kelas, rata-rata makro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78.08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81.55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89.15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79.25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2. Softmax 3 kelas (multi-class)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 kelas, rata-rata makro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83.62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81.45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85.88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91.69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83.04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92.69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3. Diagnosis (biner)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Positif = appendicitis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88.79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94.44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88.31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89.74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91.28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94.71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4. Severity (biner)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Positif = complicated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92.24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72.73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84.21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93.81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78.05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/>
                        </a:rPr>
                        <a:t>94.03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Model 1 dan 2 memprediksi tiga kelas (no appendicitis, uncomplicated, complicated); metrik adalah rata-rata makro tiga kelas.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Model 3: diagnosis, appendicitis (77 pasien) vs no appendicitis (39 pasien). Model 4: severity, complicated (19 pasien) vs uncomplicated + no appendicitis (97 pasien).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Metrik model 3 dan 4 dihitung untuk kelas positif, sehingga tidak dapat dibandingkan langsung dengan rata-rata makro tiga kelas pada model 1 dan 2.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• Satu seed dan satu split: selisih antar-model belum diuji signifikansinya.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Perbandingan dengan Marcinkevičs dkk.: diagnosis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Marcinkevičs dkk. (2024), Medical Image Analysis - Tabel 6, rata-rata 10 inisialisasi; model kita: satu seed pada data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7498078" cy="364844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28508"/>
                <a:gridCol w="1102658"/>
                <a:gridCol w="882127"/>
                <a:gridCol w="1102658"/>
                <a:gridCol w="882127"/>
              </a:tblGrid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AUPR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Radiomics + RF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ResNet-18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CBM-seq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CBM-joint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MVBM-avg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MVBM-LSTM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MVCBM-seq-avg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MVCBM-seq-LSTM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MVCBM-joint-avg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MVCBM-joint-LSTM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SSMVCBM-avg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SSMVCBM-LSTM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Proposed Model (Diagnosis Binary Classification)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0.947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0.977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37160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Paper dan penelitian ini memakai kohort/split berbeda; ini perbandingan konteks, bukan reproduksi pada data test yang sama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Target diagnosis: appendicitis vs no appendicitis, 116 pasien test (77 positif)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Model kita: Diagnosis Binary Classification, dilatih mandiri khusus untuk diagnosis; AUROC dan Average Precision (AP) dari satu seed. Paper: rata-rata 10 inisialisasi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AUROC model kita (0,947) di atas SSMVCBM terbaik (0,80), tetapi cohort dan input (klinis + citra) berbeda, dan tidak ada uji signifikansi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Perbandingan dengan Marcinkevičs dkk.: severity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Marcinkevičs dkk. (2024), Medical Image Analysis - Tabel 6, rata-rata 10 inisialisasi; model kita: satu seed pada data 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7498078" cy="364844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28508"/>
                <a:gridCol w="1102658"/>
                <a:gridCol w="882127"/>
                <a:gridCol w="1102658"/>
                <a:gridCol w="882127"/>
              </a:tblGrid>
              <a:tr h="260603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AUPR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Radiomics + RF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ResNet-18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CBM-seq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CBM-joint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MVBM-avg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MVBM-LSTM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MVCBM-seq-avg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MVCBM-seq-LSTM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MVCBM-joint-avg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MVCBM-joint-LSTM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SSMVCBM-avg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SSMVCBM-LSTM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Proposed Model (Severity Binary Classification)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0.940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371600"/>
            <a:ext cx="3566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Target severity mengikuti paper: complicated vs no/uncomplicated pada seluruh pasien (19 positif dari 116)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Model kita: Severity Binary Classification, dilatih mandiri khusus untuk severity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AUROC model kita (0,940) di atas SSMVCBM-LSTM terbaik (0,78); AUPR (AP) kita 0,836 lebih tinggi dari paper (maksimum 0,59)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• Perbedaan data dan protokol (cohort berbeda, citra + klinis vs citra saja) membuat angka tidak dapat diperingkat langsung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Perbandingan dengan Barthwal dkk. (2026): diagnosis biner</a:t>
            </a:r>
          </a:p>
          <a:p>
            <a:r>
              <a:rPr sz="1300" b="0" i="0">
                <a:solidFill>
                  <a:srgbClr val="595959"/>
                </a:solidFill>
                <a:latin typeface="Calibri"/>
              </a:rPr>
              <a:t>Multimodal Explainable AI Approach to Pediatric Appendicitis Detection (Tabel 6 paper)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17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217670"/>
                <a:gridCol w="1104627"/>
                <a:gridCol w="1205048"/>
                <a:gridCol w="1305469"/>
                <a:gridCol w="1305469"/>
                <a:gridCol w="1004207"/>
                <a:gridCol w="1104627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Akurasi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Sensitivity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000000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Barthwal dkk. (2026) cross-attention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97.3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96.5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97.8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96.2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97.1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96.8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Proposed Model (Diagnosis Binary Classification)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88.8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94.4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88.3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89.7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91.3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Calibri"/>
                        </a:rPr>
                        <a:t>94.7</a:t>
                      </a:r>
                    </a:p>
                  </a:txBody>
                  <a:tcPr anchor="ctr" marL="45720" marR="45720" marT="18288" marB="18288">
                    <a:lnL w="6350" cap="flat" cmpd="sng" algn="ctr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Angka Barthwal dikutip dari paper (kohort dan split berbeda), nilai kita dari 116 pasien test pada satu seed, model Diagnosis Binary Classification yang dilatih mandiri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Pada semua metrik, angka paper lebih tinggi dibanding model kita (akurasi 97,3% vs 88,8%; AUROC 96,8% vs 94,7%)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Penyebab selisih belum diketahui: bisa berasal dari perbedaan cohort, split, jumlah data, atau metode; tidak diuji di sini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• Perbandingan ini bersifat kontekstual, bukan uji head-to-head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000000"/>
                </a:solidFill>
                <a:latin typeface="Calibri"/>
              </a:rPr>
              <a:t>Catatan dan batasan hasil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15568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Satu split pasien dan satu seed (seed 1): hasil belum menunjukkan variabilitas antar-seed atau antar-split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Data test hanya 116 pasien (19 complicated); interval kepercayaan lebar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Test telah dilihat untuk berbagai analisis pembanding; keseluruhan studi bersifat eksploratori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Length_of_Stay dipakai sebagai fitur; ketersediaannya pada saat prediksi perlu dinilai (risiko leakage temporal)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Perbandingan dengan paper bukan reproduksi pada data test yang sama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• Pemilihan best model hanya berdasarkan macro-F1 validasi; tidak ada pemilihan berdasar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