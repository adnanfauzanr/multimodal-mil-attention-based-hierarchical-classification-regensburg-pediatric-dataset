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0" autoAdjust="0"/>
    <p:restoredTop sz="94660"/>
  </p:normalViewPr>
  <p:slideViewPr>
    <p:cSldViewPr snapToGrid="0">
      <p:cViewPr varScale="1">
        <p:scale>
          <a:sx n="84" d="100"/>
          <a:sy n="84" d="100"/>
        </p:scale>
        <p:origin x="44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E9A3C104-2E39-4EE9-B39C-285944CDA6ED}"/>
              </a:ext>
            </a:extLst>
          </p:cNvPr>
          <p:cNvSpPr>
            <a:spLocks noGrp="1"/>
          </p:cNvSpPr>
          <p:nvPr/>
        </p:nvSpPr>
        <p:spPr>
          <a:xfrm>
            <a:off x="7239000" y="2762250"/>
            <a:ext cx="762000" cy="47625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C689625-3237-43D3-9B4D-2DAEE8E16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238500"/>
            <a:ext cx="12192000" cy="12382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2881ED0-DE28-4B2A-AC1E-BF5707B6C6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4714875"/>
            <a:ext cx="10668000" cy="952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51D4A240-B6A0-4FEE-B01F-D83AE71145CE}"/>
              </a:ext>
            </a:extLst>
          </p:cNvPr>
          <p:cNvSpPr>
            <a:spLocks noGrp="1"/>
          </p:cNvSpPr>
          <p:nvPr/>
        </p:nvSpPr>
        <p:spPr>
          <a:xfrm>
            <a:off x="7239000" y="3095625"/>
            <a:ext cx="762000" cy="47625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2739828F-9751-415F-BA25-50A7E277F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571875"/>
            <a:ext cx="12192000" cy="1428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BE2AD607-9D29-4D50-9AA9-71249EF4321C}"/>
              </a:ext>
            </a:extLst>
          </p:cNvPr>
          <p:cNvSpPr>
            <a:spLocks noGrp="1"/>
          </p:cNvSpPr>
          <p:nvPr/>
        </p:nvSpPr>
        <p:spPr>
          <a:xfrm>
            <a:off x="857250" y="1905000"/>
            <a:ext cx="762000" cy="47625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D0D0E89-8005-47D3-8FA1-2152D192A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B64CC572-7144-4CF9-B844-5961805B1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13525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05B2FFFF-1BE7-43D0-B898-0D151EFF27A1}"/>
              </a:ext>
            </a:extLst>
          </p:cNvPr>
          <p:cNvSpPr>
            <a:spLocks noGrp="1"/>
          </p:cNvSpPr>
          <p:nvPr/>
        </p:nvSpPr>
        <p:spPr>
          <a:xfrm>
            <a:off x="857250" y="1905000"/>
            <a:ext cx="762000" cy="47625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ADACE70-4F26-49D2-A63A-78A290C06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F1A74B7D-463B-4A00-9010-831BE7702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C12773B0-15B7-423D-98CC-A4B908C094D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096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9F4E93F5-9CB0-42CA-A26C-B452BDAFC9FC}"/>
              </a:ext>
            </a:extLst>
          </p:cNvPr>
          <p:cNvSpPr>
            <a:spLocks noGrp="1"/>
          </p:cNvSpPr>
          <p:nvPr/>
        </p:nvSpPr>
        <p:spPr>
          <a:xfrm>
            <a:off x="857250" y="1905000"/>
            <a:ext cx="762000" cy="47625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2F76716-503C-4805-98E5-64A76934E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9029811A-57F6-4FBD-B81E-618170FB49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EAB39CC-65B7-4506-BA20-5F03A37DD712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38112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787BD3-2F09-4DF3-9787-2878AD2D3D13}"/>
              </a:ext>
            </a:extLst>
          </p:cNvPr>
          <p:cNvSpPr>
            <a:spLocks noGrp="1"/>
          </p:cNvSpPr>
          <p:nvPr/>
        </p:nvSpPr>
        <p:spPr>
          <a:xfrm>
            <a:off x="14097000" y="8058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381379"/>
            <a:ext cx="2524125" cy="142799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5C137C-F82E-4859-B495-AE77B7AAEB4E}"/>
              </a:ext>
            </a:extLst>
          </p:cNvPr>
          <p:cNvSpPr>
            <a:spLocks noGrp="1"/>
          </p:cNvSpPr>
          <p:nvPr/>
        </p:nvSpPr>
        <p:spPr>
          <a:xfrm>
            <a:off x="666750" y="3048000"/>
            <a:ext cx="13906500" cy="2571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6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Hierarchical Multimodal Classification</a:t>
            </a:r>
          </a:p>
          <a:p>
            <a:pPr algn="l">
              <a:defRPr sz="36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of Pediatric Appendicitis</a:t>
            </a:r>
          </a:p>
          <a:p>
            <a:pPr algn="l">
              <a:defRPr sz="36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Using Dual-Branch Attention-Based</a:t>
            </a:r>
          </a:p>
          <a:p>
            <a:pPr algn="l">
              <a:defRPr sz="36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Multiple Instance Learning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F4A05E-AE9C-454F-833E-BFE7C76C4BA0}"/>
              </a:ext>
            </a:extLst>
          </p:cNvPr>
          <p:cNvSpPr>
            <a:spLocks noGrp="1"/>
          </p:cNvSpPr>
          <p:nvPr/>
        </p:nvSpPr>
        <p:spPr>
          <a:xfrm>
            <a:off x="666750" y="6010275"/>
            <a:ext cx="13906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Adnan Fauzan Ramdhani</a:t>
            </a:r>
          </a:p>
          <a:p>
            <a:pPr algn="l"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NRP: 6025261004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E91EA1-32BE-44CA-839F-5BA27ECA13E9}"/>
              </a:ext>
            </a:extLst>
          </p:cNvPr>
          <p:cNvSpPr>
            <a:spLocks noGrp="1"/>
          </p:cNvSpPr>
          <p:nvPr/>
        </p:nvSpPr>
        <p:spPr>
          <a:xfrm>
            <a:off x="666750" y="7200900"/>
            <a:ext cx="139065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Mata Kuliah: Topik Dalam Pengolahan Citra Digital</a:t>
            </a:r>
          </a:p>
          <a:p>
            <a: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Institut Teknologi Sepuluh Nopember</a:t>
            </a:r>
          </a:p>
        </p:txBody>
      </p:sp>
    </p:spTree>
    <p:extLst>
      <p:ext uri="{BB962C8B-B14F-4D97-AF65-F5344CB8AC3E}">
        <p14:creationId xmlns:p14="http://schemas.microsoft.com/office/powerpoint/2010/main" val="2146034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6BE9672-9C8A-4C38-B536-675CDE3421EB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38112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Introduction: apendisitis pada anak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BFFDAE-9721-43A5-87C5-E93CD7DA00A3}"/>
              </a:ext>
            </a:extLst>
          </p:cNvPr>
          <p:cNvSpPr>
            <a:spLocks noGrp="1"/>
          </p:cNvSpPr>
          <p:nvPr/>
        </p:nvSpPr>
        <p:spPr>
          <a:xfrm>
            <a:off x="666750" y="8029575"/>
            <a:ext cx="13144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Referensi: Di Saverio dkk. (2020), World Journal of Emergency Surgery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BF9BE2-47FD-4FE5-9D79-240BF77A46B0}"/>
              </a:ext>
            </a:extLst>
          </p:cNvPr>
          <p:cNvSpPr>
            <a:spLocks noGrp="1"/>
          </p:cNvSpPr>
          <p:nvPr/>
        </p:nvSpPr>
        <p:spPr>
          <a:xfrm>
            <a:off x="14097000" y="8058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BFCFF4-7D34-4EE2-94F4-BB8891F19355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13906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Pediatric appendicitis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D14BD3-EC70-40DE-AD33-2BC46989BD08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139065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Peradangan apendiks pada anak dan remaja. Gejala dapat berupa nyeri perut, mual, demam, dan penurunan nafsu makan. Gejala yang tidak khas dapat menyulitkan diagnosis.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696961-245B-4342-AFA9-DE67637FE1DB}"/>
              </a:ext>
            </a:extLst>
          </p:cNvPr>
          <p:cNvSpPr>
            <a:spLocks noGrp="1"/>
          </p:cNvSpPr>
          <p:nvPr/>
        </p:nvSpPr>
        <p:spPr>
          <a:xfrm>
            <a:off x="666750" y="3190875"/>
            <a:ext cx="13906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Diagnosis oleh dokter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E85169-6BB3-4FF4-A2E9-C2D15B209DA0}"/>
              </a:ext>
            </a:extLst>
          </p:cNvPr>
          <p:cNvSpPr>
            <a:spLocks noGrp="1"/>
          </p:cNvSpPr>
          <p:nvPr/>
        </p:nvSpPr>
        <p:spPr>
          <a:xfrm>
            <a:off x="666750" y="3609975"/>
            <a:ext cx="1390650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Dokter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menggabungkan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anamnesis,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pemeriksaan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fisik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leukosit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/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neutrofil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dan CRP,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serta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pencitraan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 Alvarado Score dan Pediatric Appendicitis Score (PAS)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membantu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stratifikasi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risiko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 USG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menjadi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pemeriksaan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pencitraan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awal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pada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anak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73B323-E45A-4B06-B9DE-63FFB7DCBFFD}"/>
              </a:ext>
            </a:extLst>
          </p:cNvPr>
          <p:cNvSpPr>
            <a:spLocks noGrp="1"/>
          </p:cNvSpPr>
          <p:nvPr/>
        </p:nvSpPr>
        <p:spPr>
          <a:xfrm>
            <a:off x="666750" y="4981575"/>
            <a:ext cx="13906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Penilaian keparahan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81091E-7601-4B45-83C6-839D68B32BD0}"/>
              </a:ext>
            </a:extLst>
          </p:cNvPr>
          <p:cNvSpPr>
            <a:spLocks noGrp="1"/>
          </p:cNvSpPr>
          <p:nvPr/>
        </p:nvSpPr>
        <p:spPr>
          <a:xfrm>
            <a:off x="666750" y="5400675"/>
            <a:ext cx="1390650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Dokter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menilai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tanda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komplikasi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melalui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pemeriksaan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dan </a:t>
            </a:r>
            <a:r>
              <a:rPr lang="en-US" sz="2175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pencitraan</a:t>
            </a:r>
            <a:r>
              <a:rPr lang="en-US" sz="217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USG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lalu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temuan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operasi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/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histopatologi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bila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tersedia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Perforasi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abses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dan peritonitis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purulen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menandai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penyakit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yang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lebih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kompleks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 Skor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klinis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saja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belum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cukup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untuk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memastikan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diagnosis.</a:t>
            </a:r>
          </a:p>
        </p:txBody>
      </p:sp>
    </p:spTree>
    <p:extLst>
      <p:ext uri="{BB962C8B-B14F-4D97-AF65-F5344CB8AC3E}">
        <p14:creationId xmlns:p14="http://schemas.microsoft.com/office/powerpoint/2010/main" val="1695773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EDDCBEE-FD5D-41F0-94AB-CF50915021C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38112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Peran AI dan tujuan penelitian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E75162-035B-4110-AF87-95CC826C2020}"/>
              </a:ext>
            </a:extLst>
          </p:cNvPr>
          <p:cNvSpPr>
            <a:spLocks noGrp="1"/>
          </p:cNvSpPr>
          <p:nvPr/>
        </p:nvSpPr>
        <p:spPr>
          <a:xfrm>
            <a:off x="666750" y="8029575"/>
            <a:ext cx="13144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Referensi: Marcinkevičs dkk. (2024), Barthwal dkk. (2026)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003515-BDE9-4597-B3A9-F72DF466562C}"/>
              </a:ext>
            </a:extLst>
          </p:cNvPr>
          <p:cNvSpPr>
            <a:spLocks noGrp="1"/>
          </p:cNvSpPr>
          <p:nvPr/>
        </p:nvSpPr>
        <p:spPr>
          <a:xfrm>
            <a:off x="14097000" y="8058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F424FA-3D44-4583-9BF8-5D548C61DFB4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13906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Peran AI dalam mendukung dokter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99A9E5-C3EC-43C2-B2E0-6EB1D75354A9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13906500" cy="1190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AI mempelajari pola data klinis dan citra USG untuk menghasilkan estimasi probabilitas diagnosis dan status komplikasi pada tingkat pasien. Estimasi ini menjadi informasi tambahan bagi penilaian dokter.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48784D-51F8-4724-A59E-9F484F83D3EC}"/>
              </a:ext>
            </a:extLst>
          </p:cNvPr>
          <p:cNvSpPr>
            <a:spLocks noGrp="1"/>
          </p:cNvSpPr>
          <p:nvPr/>
        </p:nvSpPr>
        <p:spPr>
          <a:xfrm>
            <a:off x="666750" y="3071813"/>
            <a:ext cx="13906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Tujuan </a:t>
            </a:r>
            <a:r>
              <a:rPr sz="23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penelitian</a:t>
            </a:r>
            <a:endParaRPr sz="2325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ECEDF4-3696-4394-8A7C-E232B3475215}"/>
              </a:ext>
            </a:extLst>
          </p:cNvPr>
          <p:cNvSpPr>
            <a:spLocks noGrp="1"/>
          </p:cNvSpPr>
          <p:nvPr/>
        </p:nvSpPr>
        <p:spPr>
          <a:xfrm>
            <a:off x="666750" y="3500437"/>
            <a:ext cx="13906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Mengembangkan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model yang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menggabungkan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data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klinis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dengan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satu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atau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lebih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citra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USG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melalui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attention-MIL,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kemudian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menghasilkan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klasifikasi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hierarkis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apendisitis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8F845C-7D3A-4954-91A4-09B67CD73C8E}"/>
              </a:ext>
            </a:extLst>
          </p:cNvPr>
          <p:cNvSpPr>
            <a:spLocks noGrp="1"/>
          </p:cNvSpPr>
          <p:nvPr/>
        </p:nvSpPr>
        <p:spPr>
          <a:xfrm>
            <a:off x="666750" y="4557712"/>
            <a:ext cx="13906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Output yang </a:t>
            </a:r>
            <a:r>
              <a:rPr sz="23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diusulkan</a:t>
            </a:r>
            <a:endParaRPr sz="2325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D039E1-F330-41CC-816C-87F66A46EDA7}"/>
              </a:ext>
            </a:extLst>
          </p:cNvPr>
          <p:cNvSpPr>
            <a:spLocks noGrp="1"/>
          </p:cNvSpPr>
          <p:nvPr/>
        </p:nvSpPr>
        <p:spPr>
          <a:xfrm>
            <a:off x="666750" y="5110163"/>
            <a:ext cx="13906500" cy="55149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Non-</a:t>
            </a:r>
            <a:r>
              <a:rPr sz="225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apendisitis</a:t>
            </a:r>
            <a:r>
              <a:rPr sz="225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uncomplicated appendicitis, dan complicated appendicitis</a:t>
            </a:r>
            <a:r>
              <a:rPr lang="en-US" sz="225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sz="2250" b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35261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517D27D-19DC-483C-8540-5B254B188F43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38112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Regensburg Pediatric Appendicitis Dataset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1A8008-11D4-46C4-BDB6-F32361110AB8}"/>
              </a:ext>
            </a:extLst>
          </p:cNvPr>
          <p:cNvSpPr>
            <a:spLocks noGrp="1"/>
          </p:cNvSpPr>
          <p:nvPr/>
        </p:nvSpPr>
        <p:spPr>
          <a:xfrm>
            <a:off x="666750" y="8029575"/>
            <a:ext cx="13144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Sumber</a:t>
            </a:r>
            <a:r>
              <a:rPr sz="12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UCI / </a:t>
            </a:r>
            <a:r>
              <a:rPr sz="12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Zenodo</a:t>
            </a:r>
            <a:r>
              <a:rPr sz="12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(2023), </a:t>
            </a:r>
            <a:r>
              <a:rPr sz="12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Marcinkevičs</a:t>
            </a:r>
            <a:r>
              <a:rPr sz="12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dkk</a:t>
            </a:r>
            <a:r>
              <a:rPr sz="12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 (2024)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CDCC07-B933-46E7-BC94-ADA208CB4AD8}"/>
              </a:ext>
            </a:extLst>
          </p:cNvPr>
          <p:cNvSpPr>
            <a:spLocks noGrp="1"/>
          </p:cNvSpPr>
          <p:nvPr/>
        </p:nvSpPr>
        <p:spPr>
          <a:xfrm>
            <a:off x="14097000" y="8058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5865F6-141D-4AF3-BC5A-49A18A4766B4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13906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Sumber dan populasi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A071B4-9B0C-4FEC-8E28-86FFBEC907D7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13906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Studi retrospektif di Children’s Hospital St. Hedwig, Regensburg, Jerman. Pasien anak / remaja dengan dugaan apendisitis, periode 2016–2021. Dataset dirilis pada 2023.</a:t>
            </a:r>
          </a:p>
        </p:txBody>
      </p:sp>
      <p:graphicFrame>
        <p:nvGraphicFramePr>
          <p:cNvPr id="13" name="Table 12"/>
          <p:cNvGraphicFramePr/>
          <p:nvPr>
            <p:extLst>
              <p:ext uri="{D42A27DB-BD31-4B8C-83A1-F6EECF244321}">
                <p14:modId xmlns:p14="http://schemas.microsoft.com/office/powerpoint/2010/main" val="3871227774"/>
              </p:ext>
            </p:extLst>
          </p:nvPr>
        </p:nvGraphicFramePr>
        <p:xfrm>
          <a:off x="666750" y="3429000"/>
          <a:ext cx="13906500" cy="3829050"/>
        </p:xfrm>
        <a:graphic>
          <a:graphicData uri="http://schemas.openxmlformats.org/drawingml/2006/table">
            <a:tbl>
              <a:tblPr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7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Komponen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Struktur dan isi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app_data.xlsx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All cases: data </a:t>
                      </a:r>
                      <a:r>
                        <a:rPr sz="2100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pasien</a:t>
                      </a:r>
                      <a:r>
                        <a:rPr sz="21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. Data Summary: </a:t>
                      </a:r>
                      <a:r>
                        <a:rPr sz="2100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definisi</a:t>
                      </a:r>
                      <a:r>
                        <a:rPr sz="21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, </a:t>
                      </a:r>
                      <a:r>
                        <a:rPr sz="2100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tipe</a:t>
                      </a:r>
                      <a:r>
                        <a:rPr sz="21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, dan </a:t>
                      </a:r>
                      <a:r>
                        <a:rPr sz="2100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waktu</a:t>
                      </a:r>
                      <a:r>
                        <a:rPr sz="21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100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pengukuran</a:t>
                      </a:r>
                      <a:r>
                        <a:rPr sz="21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100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variabel</a:t>
                      </a:r>
                      <a:r>
                        <a:rPr sz="21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</a:p>
                    <a:p>
                      <a:r>
                        <a:rPr sz="21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58 </a:t>
                      </a:r>
                      <a:r>
                        <a:rPr sz="2100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variabel</a:t>
                      </a:r>
                      <a:r>
                        <a:rPr sz="21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100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berlabel</a:t>
                      </a:r>
                      <a:r>
                        <a:rPr sz="21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92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US_Pictures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Citra B-mode USG </a:t>
                      </a:r>
                      <a:r>
                        <a:rPr sz="2100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dengan</a:t>
                      </a:r>
                      <a:r>
                        <a:rPr sz="21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100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beberapa</a:t>
                      </a:r>
                      <a:r>
                        <a:rPr sz="21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view </a:t>
                      </a:r>
                      <a:r>
                        <a:rPr sz="2100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anatomi</a:t>
                      </a:r>
                      <a:r>
                        <a:rPr sz="21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. Pencocokan tabular dan </a:t>
                      </a:r>
                      <a:r>
                        <a:rPr sz="2100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citra</a:t>
                      </a:r>
                      <a:r>
                        <a:rPr sz="21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100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melalui</a:t>
                      </a:r>
                      <a:r>
                        <a:rPr sz="21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100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US_Number</a:t>
                      </a:r>
                      <a:r>
                        <a:rPr sz="21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743D975F-EE34-4254-B3D9-ADACB70E4026}"/>
              </a:ext>
            </a:extLst>
          </p:cNvPr>
          <p:cNvSpPr>
            <a:spLocks noGrp="1"/>
          </p:cNvSpPr>
          <p:nvPr/>
        </p:nvSpPr>
        <p:spPr>
          <a:xfrm>
            <a:off x="666750" y="7572375"/>
            <a:ext cx="139065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Dokumentasi: 782 record. Workbook yang dianalisis: 781 baris terisi + 1 baris kosong.</a:t>
            </a:r>
          </a:p>
        </p:txBody>
      </p:sp>
    </p:spTree>
    <p:extLst>
      <p:ext uri="{BB962C8B-B14F-4D97-AF65-F5344CB8AC3E}">
        <p14:creationId xmlns:p14="http://schemas.microsoft.com/office/powerpoint/2010/main" val="639488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63E8EED-429F-4F23-9839-5A0D3A661662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38112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Target variabel dan distribusi kelas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33B507-0D70-4A51-AC8D-DE4061BF4170}"/>
              </a:ext>
            </a:extLst>
          </p:cNvPr>
          <p:cNvSpPr>
            <a:spLocks noGrp="1"/>
          </p:cNvSpPr>
          <p:nvPr/>
        </p:nvSpPr>
        <p:spPr>
          <a:xfrm>
            <a:off x="666750" y="8029575"/>
            <a:ext cx="13144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Sumber</a:t>
            </a:r>
            <a:r>
              <a:rPr sz="12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UCI / </a:t>
            </a:r>
            <a:r>
              <a:rPr sz="12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Zenodo</a:t>
            </a:r>
            <a:r>
              <a:rPr sz="12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(2023), </a:t>
            </a:r>
            <a:r>
              <a:rPr sz="12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Marcinkevičs</a:t>
            </a:r>
            <a:r>
              <a:rPr sz="12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dkk</a:t>
            </a:r>
            <a:r>
              <a:rPr sz="12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 (2024)</a:t>
            </a:r>
            <a:endParaRPr lang="en-US" sz="1275" b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sz="1275" b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FCD2DE-FCA8-4D99-9EDF-BB2A62FEFB9A}"/>
              </a:ext>
            </a:extLst>
          </p:cNvPr>
          <p:cNvSpPr>
            <a:spLocks noGrp="1"/>
          </p:cNvSpPr>
          <p:nvPr/>
        </p:nvSpPr>
        <p:spPr>
          <a:xfrm>
            <a:off x="14097000" y="8058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0F20BC-C350-4238-9266-30E5856AB6D4}"/>
              </a:ext>
            </a:extLst>
          </p:cNvPr>
          <p:cNvSpPr>
            <a:spLocks noGrp="1"/>
          </p:cNvSpPr>
          <p:nvPr/>
        </p:nvSpPr>
        <p:spPr>
          <a:xfrm>
            <a:off x="666750" y="1628775"/>
            <a:ext cx="13906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Target asli: Diagnosis, Severity, dan Management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6BACCF-B75D-47A1-8354-60C5FD9DBDE2}"/>
              </a:ext>
            </a:extLst>
          </p:cNvPr>
          <p:cNvSpPr>
            <a:spLocks noGrp="1"/>
          </p:cNvSpPr>
          <p:nvPr/>
        </p:nvSpPr>
        <p:spPr>
          <a:xfrm>
            <a:off x="666750" y="2247900"/>
            <a:ext cx="13906500" cy="8915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Diagnosis: </a:t>
            </a:r>
            <a:r>
              <a:rPr sz="21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apendisitis</a:t>
            </a:r>
            <a:r>
              <a:rPr sz="21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46</a:t>
            </a:r>
            <a:r>
              <a:rPr lang="en-US" sz="21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  <a:r>
              <a:rPr sz="21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non-</a:t>
            </a:r>
            <a:r>
              <a:rPr sz="21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apendisitis</a:t>
            </a:r>
            <a:r>
              <a:rPr sz="21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31</a:t>
            </a:r>
            <a:r>
              <a:rPr lang="en-US" sz="21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  <a:r>
              <a:rPr sz="21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21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  <a:r>
              <a:rPr lang="en-US" sz="21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label </a:t>
            </a:r>
            <a:r>
              <a:rPr sz="21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kosong</a:t>
            </a:r>
            <a:r>
              <a:rPr lang="en-US" sz="21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1 </a:t>
            </a:r>
            <a:r>
              <a:rPr lang="en-US" sz="21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kesalahan</a:t>
            </a:r>
            <a:r>
              <a:rPr lang="en-US" sz="21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label</a:t>
            </a:r>
            <a:r>
              <a:rPr sz="21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.</a:t>
            </a:r>
          </a:p>
          <a:p>
            <a: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Severity: uncomplicated 662, complicated 11</a:t>
            </a:r>
            <a:r>
              <a:rPr lang="en-US" sz="21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r>
            <a:r>
              <a:rPr sz="21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 Label uncomplicated juga </a:t>
            </a:r>
            <a:r>
              <a:rPr sz="21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mencakup</a:t>
            </a:r>
            <a:r>
              <a:rPr sz="21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non-</a:t>
            </a:r>
            <a:r>
              <a:rPr sz="21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apendisitis</a:t>
            </a:r>
            <a:r>
              <a:rPr sz="21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 </a:t>
            </a:r>
          </a:p>
        </p:txBody>
      </p:sp>
      <p:graphicFrame>
        <p:nvGraphicFramePr>
          <p:cNvPr id="13" name="Table 12"/>
          <p:cNvGraphicFramePr/>
          <p:nvPr>
            <p:extLst>
              <p:ext uri="{D42A27DB-BD31-4B8C-83A1-F6EECF244321}">
                <p14:modId xmlns:p14="http://schemas.microsoft.com/office/powerpoint/2010/main" val="452645583"/>
              </p:ext>
            </p:extLst>
          </p:nvPr>
        </p:nvGraphicFramePr>
        <p:xfrm>
          <a:off x="666750" y="3434715"/>
          <a:ext cx="13906500" cy="3371850"/>
        </p:xfrm>
        <a:graphic>
          <a:graphicData uri="http://schemas.openxmlformats.org/drawingml/2006/table">
            <a:tbl>
              <a:tblPr/>
              <a:tblGrid>
                <a:gridCol w="866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Target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Jumlah pasien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Proporsi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Non-</a:t>
                      </a:r>
                      <a:r>
                        <a:rPr sz="2025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apendisitis</a:t>
                      </a:r>
                      <a:endParaRPr sz="2025" b="0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31</a:t>
                      </a:r>
                      <a:r>
                        <a:rPr lang="en-US" sz="202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  <a:endParaRPr sz="2025" b="0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40,</a:t>
                      </a:r>
                      <a:r>
                        <a:rPr lang="en-US" sz="202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  <a:r>
                        <a:rPr sz="202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%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Uncomplicated appendicitis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34</a:t>
                      </a:r>
                      <a:r>
                        <a:rPr lang="en-US" sz="202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  <a:endParaRPr sz="2025" b="0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44,</a:t>
                      </a:r>
                      <a:r>
                        <a:rPr lang="en-US" sz="202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  <a:r>
                        <a:rPr sz="202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%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Complicated appendicitis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  <a:r>
                        <a:rPr lang="en-US" sz="202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  <a:endParaRPr sz="2025" b="0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15,</a:t>
                      </a:r>
                      <a:r>
                        <a:rPr lang="en-US" sz="202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  <a:r>
                        <a:rPr sz="202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%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202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Total</a:t>
                      </a:r>
                      <a:endParaRPr lang="en-US" sz="2025" b="0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77</a:t>
                      </a:r>
                      <a:r>
                        <a:rPr lang="en-US" sz="202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  <a:endParaRPr sz="2025" b="0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100,0%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2596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9C24D8C-D3A9-44A2-88ED-92FF3E4BA445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38112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Literature review: citra dan fusi multimodal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FC91A4-93B2-4B41-978D-014002B6E4F2}"/>
              </a:ext>
            </a:extLst>
          </p:cNvPr>
          <p:cNvSpPr>
            <a:spLocks noGrp="1"/>
          </p:cNvSpPr>
          <p:nvPr/>
        </p:nvSpPr>
        <p:spPr>
          <a:xfrm>
            <a:off x="666750" y="8029575"/>
            <a:ext cx="13144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Kuartil</a:t>
            </a:r>
            <a:r>
              <a:rPr sz="12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terbaik</a:t>
            </a:r>
            <a:r>
              <a:rPr sz="12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SCImago</a:t>
            </a:r>
            <a:r>
              <a:rPr sz="12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sz="12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tahun</a:t>
            </a:r>
            <a:r>
              <a:rPr sz="12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metrik</a:t>
            </a:r>
            <a:r>
              <a:rPr sz="12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2025.</a:t>
            </a:r>
            <a:endParaRPr lang="en-US" sz="1275" b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sz="1275" b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5854CB-30A2-4CBA-9163-5B4CF20DEB32}"/>
              </a:ext>
            </a:extLst>
          </p:cNvPr>
          <p:cNvSpPr>
            <a:spLocks noGrp="1"/>
          </p:cNvSpPr>
          <p:nvPr/>
        </p:nvSpPr>
        <p:spPr>
          <a:xfrm>
            <a:off x="14097000" y="8058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graphicFrame>
        <p:nvGraphicFramePr>
          <p:cNvPr id="8" name="Table 7"/>
          <p:cNvGraphicFramePr/>
          <p:nvPr>
            <p:extLst>
              <p:ext uri="{D42A27DB-BD31-4B8C-83A1-F6EECF244321}">
                <p14:modId xmlns:p14="http://schemas.microsoft.com/office/powerpoint/2010/main" val="1722609447"/>
              </p:ext>
            </p:extLst>
          </p:nvPr>
        </p:nvGraphicFramePr>
        <p:xfrm>
          <a:off x="666750" y="1609725"/>
          <a:ext cx="13906500" cy="6334125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81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Penelitian / publikasi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Input dan model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Target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Kelebihan penelitian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Kekurangan / batas cakupan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45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Marcinkevičs dkk. (2024)</a:t>
                      </a:r>
                    </a:p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Medical Image Analysis</a:t>
                      </a:r>
                    </a:p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Q1 SCImago 2025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Multi-view USG</a:t>
                      </a:r>
                    </a:p>
                    <a:p>
                      <a:r>
                        <a:rPr sz="15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Mean / LSTM</a:t>
                      </a:r>
                    </a:p>
                    <a:p>
                      <a:r>
                        <a:rPr sz="15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MVCBM dan SSMVCBM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Diagnosis biner, management, severity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Menangani</a:t>
                      </a:r>
                      <a:r>
                        <a:rPr sz="15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575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beberapa</a:t>
                      </a:r>
                      <a:r>
                        <a:rPr sz="15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view dan </a:t>
                      </a:r>
                      <a:r>
                        <a:rPr sz="1575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konsep</a:t>
                      </a:r>
                      <a:r>
                        <a:rPr sz="15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yang </a:t>
                      </a:r>
                      <a:r>
                        <a:rPr sz="1575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tidak</a:t>
                      </a:r>
                      <a:r>
                        <a:rPr sz="15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575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lengkap</a:t>
                      </a:r>
                      <a:r>
                        <a:rPr sz="15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. </a:t>
                      </a:r>
                      <a:r>
                        <a:rPr sz="1575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Konsep</a:t>
                      </a:r>
                      <a:r>
                        <a:rPr sz="15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575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dapat</a:t>
                      </a:r>
                      <a:r>
                        <a:rPr sz="15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575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diperiksa</a:t>
                      </a:r>
                      <a:r>
                        <a:rPr sz="15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dan </a:t>
                      </a:r>
                      <a:r>
                        <a:rPr sz="1575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diintervensi</a:t>
                      </a:r>
                      <a:r>
                        <a:rPr sz="15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Aplikasi apendisitis memakai citra / konsep USG tanpa fusi fitur klinis. LSTM sensitif terhadap urutan.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45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Barthwal dkk. (2026)</a:t>
                      </a:r>
                    </a:p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Egyptian Pediatric Association Gazette</a:t>
                      </a:r>
                    </a:p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Springer Nature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Klinis</a:t>
                      </a:r>
                      <a:r>
                        <a:rPr sz="15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+ </a:t>
                      </a:r>
                      <a:r>
                        <a:rPr sz="1575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citra</a:t>
                      </a:r>
                      <a:r>
                        <a:rPr sz="15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USG</a:t>
                      </a:r>
                    </a:p>
                    <a:p>
                      <a:r>
                        <a:rPr sz="1575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TabNet</a:t>
                      </a:r>
                      <a:r>
                        <a:rPr sz="15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+ ResNet-18</a:t>
                      </a:r>
                    </a:p>
                    <a:p>
                      <a:r>
                        <a:rPr sz="15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Cross-attention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Diagnosis apendisitis biner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Menggabungkan dua modalitas dan menyediakan XAI. Memisahkan citra berdasarkan pasien.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Model </a:t>
                      </a:r>
                      <a:r>
                        <a:rPr lang="en-US" sz="1575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fusi</a:t>
                      </a:r>
                      <a:r>
                        <a:rPr lang="en-US" sz="15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1575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hanya</a:t>
                      </a:r>
                      <a:r>
                        <a:rPr lang="en-US" sz="15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1575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menggunakan</a:t>
                      </a:r>
                      <a:r>
                        <a:rPr lang="en-US" sz="15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1575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satu</a:t>
                      </a:r>
                      <a:r>
                        <a:rPr lang="en-US" sz="15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1575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citra</a:t>
                      </a:r>
                      <a:r>
                        <a:rPr lang="en-US" sz="15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input. Tidak </a:t>
                      </a:r>
                      <a:r>
                        <a:rPr lang="en-US" sz="1575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dijelaskan</a:t>
                      </a:r>
                      <a:r>
                        <a:rPr lang="en-US" sz="15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1575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kriteria</a:t>
                      </a:r>
                      <a:r>
                        <a:rPr lang="en-US" sz="15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1575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pemilihan</a:t>
                      </a:r>
                      <a:r>
                        <a:rPr lang="en-US" sz="15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lang="en-US" sz="1575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citra</a:t>
                      </a:r>
                      <a:r>
                        <a:rPr lang="en-US" sz="15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yang </a:t>
                      </a:r>
                      <a:r>
                        <a:rPr lang="en-US" sz="1575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digunakan</a:t>
                      </a:r>
                      <a:r>
                        <a:rPr lang="en-US" sz="15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  <a:r>
                        <a:rPr sz="15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Belum </a:t>
                      </a:r>
                      <a:r>
                        <a:rPr sz="1575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mengevaluasi</a:t>
                      </a:r>
                      <a:r>
                        <a:rPr sz="15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output diagnosis–</a:t>
                      </a:r>
                      <a:r>
                        <a:rPr sz="1575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komplikasi</a:t>
                      </a:r>
                      <a:r>
                        <a:rPr sz="15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575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hierarkis</a:t>
                      </a:r>
                      <a:r>
                        <a:rPr sz="15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45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Fernández Santana dkk. (2026)</a:t>
                      </a:r>
                    </a:p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Knowledge-Based Systems</a:t>
                      </a:r>
                    </a:p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Q1 SCImago 2025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Citra USG</a:t>
                      </a:r>
                    </a:p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StyleGAN2-ADA</a:t>
                      </a:r>
                    </a:p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Swin Transformer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Diagnosis apendisitis biner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Split pasien, GAN pada training, dan evaluasi statistik. Membandingkan beberapa encoder CNN.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Model </a:t>
                      </a:r>
                      <a:r>
                        <a:rPr sz="1575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berfokus</a:t>
                      </a:r>
                      <a:r>
                        <a:rPr sz="15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pada </a:t>
                      </a:r>
                      <a:r>
                        <a:rPr sz="1575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klasifikasi</a:t>
                      </a:r>
                      <a:r>
                        <a:rPr sz="15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575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citra</a:t>
                      </a:r>
                      <a:r>
                        <a:rPr sz="15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575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tanpa</a:t>
                      </a:r>
                      <a:r>
                        <a:rPr sz="15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575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fusi</a:t>
                      </a:r>
                      <a:r>
                        <a:rPr sz="15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575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klinis</a:t>
                      </a:r>
                      <a:r>
                        <a:rPr sz="15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575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atau</a:t>
                      </a:r>
                      <a:r>
                        <a:rPr sz="15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output </a:t>
                      </a:r>
                      <a:r>
                        <a:rPr sz="1575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keparahan</a:t>
                      </a:r>
                      <a:r>
                        <a:rPr sz="15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. </a:t>
                      </a:r>
                      <a:r>
                        <a:rPr sz="1575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Augmentasi</a:t>
                      </a:r>
                      <a:r>
                        <a:rPr sz="15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575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tidak</a:t>
                      </a:r>
                      <a:r>
                        <a:rPr sz="15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575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meningkatkan</a:t>
                      </a:r>
                      <a:r>
                        <a:rPr sz="15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AUC </a:t>
                      </a:r>
                      <a:r>
                        <a:rPr sz="1575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secara</a:t>
                      </a:r>
                      <a:r>
                        <a:rPr sz="15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575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jelas</a:t>
                      </a:r>
                      <a:r>
                        <a:rPr sz="1575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0008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42C207F-DF69-461B-9230-599F75915549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38112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Literature review: model tabular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96CC72-DD83-452C-93BD-0102044F55E3}"/>
              </a:ext>
            </a:extLst>
          </p:cNvPr>
          <p:cNvSpPr>
            <a:spLocks noGrp="1"/>
          </p:cNvSpPr>
          <p:nvPr/>
        </p:nvSpPr>
        <p:spPr>
          <a:xfrm>
            <a:off x="666750" y="8029575"/>
            <a:ext cx="13144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Kuartil</a:t>
            </a:r>
            <a:r>
              <a:rPr sz="12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terbaik</a:t>
            </a:r>
            <a:r>
              <a:rPr sz="12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SCImago</a:t>
            </a:r>
            <a:r>
              <a:rPr sz="12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sz="12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tahun</a:t>
            </a:r>
            <a:r>
              <a:rPr sz="12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metrik</a:t>
            </a:r>
            <a:r>
              <a:rPr sz="12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2025.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72FD91-8D28-404C-AF05-5CAC991D8D8E}"/>
              </a:ext>
            </a:extLst>
          </p:cNvPr>
          <p:cNvSpPr>
            <a:spLocks noGrp="1"/>
          </p:cNvSpPr>
          <p:nvPr/>
        </p:nvSpPr>
        <p:spPr>
          <a:xfrm>
            <a:off x="14097000" y="8058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8" name="Table 7"/>
          <p:cNvGraphicFramePr/>
          <p:nvPr/>
        </p:nvGraphicFramePr>
        <p:xfrm>
          <a:off x="666750" y="1609725"/>
          <a:ext cx="13906500" cy="6334125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81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Penelitian / publikasi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Input dan model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Target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Kelebihan penelitian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Kekurangan / batas cakupan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45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Chadaga dkk. (2024)</a:t>
                      </a:r>
                    </a:p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Scientific Reports</a:t>
                      </a:r>
                    </a:p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Q1 SCImago 2025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Data klinis / temuan USG tabular</a:t>
                      </a:r>
                    </a:p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APPSTACK + tuning + XAI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Diagnosis apendisitis biner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Membandingkan beberapa classifier dan menjelaskan pengaruh fitur melalui lima metode XAI.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Tidak menggunakan citra mentah. Lama rawat tidak tersedia saat diagnosis awal. Balancing sebelum split berisiko leakage.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45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Manohar dkk. (2025)</a:t>
                      </a:r>
                    </a:p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Telematics and Informatics Reports</a:t>
                      </a:r>
                    </a:p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Q1 SCImago 2025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Klinis / laboratorium / temuan USG tabular</a:t>
                      </a:r>
                    </a:p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ML ensemble + XAI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Severity biner dan management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Secara langsung memodelkan keparahan serta penanganan. Menjelaskan marker penting.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Tidak memakai citra mentah atau diagnosis–komplikasi hierarkis. Lama rawat menjadi fitur penting meski diukur saat pulang.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452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Dyuthishree dkk. (2026)</a:t>
                      </a:r>
                    </a:p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Healthcare Analytics</a:t>
                      </a:r>
                    </a:p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Q1 SCImago 2025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Tabular</a:t>
                      </a:r>
                    </a:p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Boruta + oversampling</a:t>
                      </a:r>
                    </a:p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Soft voting + XAI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Diagnosis presumptif dan peritonitis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Menilai diagnosis dugaan dan peritonitis, dengan seleksi fitur serta penjelasan prediksi.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Target berbeda dari diagnosis akhir dan Severity. Tidak memakai citra mentah. Balancing sebelum split dan lama rawat perlu audit.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0816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08E4156-A8DD-4456-A03A-C52102B4382D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38112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Literature review: VLM dan eksplorasi kelompok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315220-F7E6-4EB4-889A-04725755CB43}"/>
              </a:ext>
            </a:extLst>
          </p:cNvPr>
          <p:cNvSpPr>
            <a:spLocks noGrp="1"/>
          </p:cNvSpPr>
          <p:nvPr/>
        </p:nvSpPr>
        <p:spPr>
          <a:xfrm>
            <a:off x="666750" y="8029575"/>
            <a:ext cx="13144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Kuartil</a:t>
            </a:r>
            <a:r>
              <a:rPr sz="12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terbaik</a:t>
            </a:r>
            <a:r>
              <a:rPr sz="12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SCImago</a:t>
            </a:r>
            <a:r>
              <a:rPr sz="12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sz="12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tahun</a:t>
            </a:r>
            <a:r>
              <a:rPr sz="12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metrik</a:t>
            </a:r>
            <a:r>
              <a:rPr sz="12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2025</a:t>
            </a:r>
            <a:r>
              <a:rPr lang="en-US" sz="127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sz="1275" b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BFC55F-1B98-4477-AAD8-FF0375BFD12F}"/>
              </a:ext>
            </a:extLst>
          </p:cNvPr>
          <p:cNvSpPr>
            <a:spLocks noGrp="1"/>
          </p:cNvSpPr>
          <p:nvPr/>
        </p:nvSpPr>
        <p:spPr>
          <a:xfrm>
            <a:off x="14097000" y="8058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graphicFrame>
        <p:nvGraphicFramePr>
          <p:cNvPr id="9" name="Table 8"/>
          <p:cNvGraphicFramePr/>
          <p:nvPr/>
        </p:nvGraphicFramePr>
        <p:xfrm>
          <a:off x="666750" y="1905000"/>
          <a:ext cx="13906500" cy="5410200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81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Penelitian / publikasi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Input dan model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Target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Kelebihan penelitian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Kekurangan / batas cakupan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98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Altintas Mese dkk. (2026)</a:t>
                      </a:r>
                    </a:p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Pediatric Radiology</a:t>
                      </a:r>
                    </a:p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Q1 SCImago 2025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Hingga 4 citra USG, teks temuan USG, dan klinis</a:t>
                      </a:r>
                    </a:p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Llama 4 Maverick, zero-shot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Diagnosis apendisitis biner pada tingkat pasien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Membandingkan kontribusi beberapa kombinasi input tanpa pelatihan khusus tugas.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Citra saja memiliki spesifisitas rendah. Menambahkan citra tidak memberi perbaikan bermakna. Belum melatih MIL atau output keparahan.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98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Failli dkk. (2025)</a:t>
                      </a:r>
                    </a:p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Journal of Classification</a:t>
                      </a:r>
                    </a:p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Q1 SCImago 2025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Kondisi klinis biner dan atribut pasien</a:t>
                      </a:r>
                    </a:p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Bipartite network</a:t>
                      </a:r>
                    </a:p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Mixture latent trait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Biclustering pasien dan kondisi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Mengidentifikasi kelompok pasien serta pola kondisi klinis dengan model probabilistik.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Tujuannya eksplorasi kelompok, bukan prediksi diagnosis atau keparahan. Tidak menggunakan citra USG.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2092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F18C0D6-549C-407A-BC10-D2BA596A5887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38112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Gap penelitian dan arah kontribusi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230701-025F-4468-A37E-DD96B2C04BE1}"/>
              </a:ext>
            </a:extLst>
          </p:cNvPr>
          <p:cNvSpPr>
            <a:spLocks noGrp="1"/>
          </p:cNvSpPr>
          <p:nvPr/>
        </p:nvSpPr>
        <p:spPr>
          <a:xfrm>
            <a:off x="14097000" y="8058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0EF17C-6B71-430C-8B89-98D70C641D9C}"/>
              </a:ext>
            </a:extLst>
          </p:cNvPr>
          <p:cNvSpPr>
            <a:spLocks noGrp="1"/>
          </p:cNvSpPr>
          <p:nvPr/>
        </p:nvSpPr>
        <p:spPr>
          <a:xfrm>
            <a:off x="666750" y="1581150"/>
            <a:ext cx="13906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1. Diagnosis dan status komplikasi dalam satu pipeline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2F8E83-0905-42CF-9D86-0D915FF8F312}"/>
              </a:ext>
            </a:extLst>
          </p:cNvPr>
          <p:cNvSpPr>
            <a:spLocks noGrp="1"/>
          </p:cNvSpPr>
          <p:nvPr/>
        </p:nvSpPr>
        <p:spPr>
          <a:xfrm>
            <a:off x="666750" y="2057400"/>
            <a:ext cx="139065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Diagnosis dan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keparahan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sudah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diteliti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Dalam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delapan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artikel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ini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fusi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klinis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–bag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citra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dengan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probabilitas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diagnosis–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komplikasi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secara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hierarkis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belum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dievaluasi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secara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eksplisit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BABF57-97AF-4FEB-87B9-180D0A4EB9FC}"/>
              </a:ext>
            </a:extLst>
          </p:cNvPr>
          <p:cNvSpPr>
            <a:spLocks noGrp="1"/>
          </p:cNvSpPr>
          <p:nvPr/>
        </p:nvSpPr>
        <p:spPr>
          <a:xfrm>
            <a:off x="666750" y="3200400"/>
            <a:ext cx="13906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 Fusi multimodal pada </a:t>
            </a:r>
            <a:r>
              <a:rPr sz="23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tingkat</a:t>
            </a:r>
            <a:r>
              <a:rPr sz="23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3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pasien</a:t>
            </a:r>
            <a:endParaRPr sz="2325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4B9D00-98C8-4797-8712-58D5354EE587}"/>
              </a:ext>
            </a:extLst>
          </p:cNvPr>
          <p:cNvSpPr>
            <a:spLocks noGrp="1"/>
          </p:cNvSpPr>
          <p:nvPr/>
        </p:nvSpPr>
        <p:spPr>
          <a:xfrm>
            <a:off x="666750" y="3619500"/>
            <a:ext cx="139065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Fusi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klinis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–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citra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sudah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tersedia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2175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tetapi</a:t>
            </a:r>
            <a:r>
              <a:rPr lang="en-US" sz="217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175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hanya</a:t>
            </a:r>
            <a:r>
              <a:rPr lang="en-US" sz="217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175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menggabungkan</a:t>
            </a:r>
            <a:r>
              <a:rPr lang="en-US" sz="217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175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satu</a:t>
            </a:r>
            <a:r>
              <a:rPr lang="en-US" sz="217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feature </a:t>
            </a:r>
            <a:r>
              <a:rPr lang="en-US" sz="2175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klinis</a:t>
            </a:r>
            <a:r>
              <a:rPr lang="en-US" sz="217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175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dengan</a:t>
            </a:r>
            <a:r>
              <a:rPr lang="en-US" sz="217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175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satu</a:t>
            </a:r>
            <a:r>
              <a:rPr lang="en-US" sz="217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input </a:t>
            </a:r>
            <a:r>
              <a:rPr lang="en-US" sz="2175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citra</a:t>
            </a:r>
            <a:r>
              <a:rPr lang="en-US" sz="217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 </a:t>
            </a:r>
            <a:r>
              <a:rPr lang="en-US" sz="2175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Pemilihan</a:t>
            </a:r>
            <a:r>
              <a:rPr lang="en-US" sz="217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175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citra</a:t>
            </a:r>
            <a:r>
              <a:rPr lang="en-US" sz="217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yang </a:t>
            </a:r>
            <a:r>
              <a:rPr lang="en-US" sz="2175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digunakan</a:t>
            </a:r>
            <a:r>
              <a:rPr lang="en-US" sz="217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175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tidak</a:t>
            </a:r>
            <a:r>
              <a:rPr lang="en-US" sz="217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175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dijelaskan</a:t>
            </a:r>
            <a:r>
              <a:rPr lang="en-US" sz="217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175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secara</a:t>
            </a:r>
            <a:r>
              <a:rPr lang="en-US" sz="217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175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eksplisit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 VLM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memakai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beberapa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citra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melalui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prompting.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Usulan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mempelajari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bobot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seluruh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view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dalam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satu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bag.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53EBCB-0ECB-4F3A-A761-C8D00454787B}"/>
              </a:ext>
            </a:extLst>
          </p:cNvPr>
          <p:cNvSpPr>
            <a:spLocks noGrp="1"/>
          </p:cNvSpPr>
          <p:nvPr/>
        </p:nvSpPr>
        <p:spPr>
          <a:xfrm>
            <a:off x="666750" y="5105400"/>
            <a:ext cx="13906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 </a:t>
            </a:r>
            <a:r>
              <a:rPr sz="23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Agregasi</a:t>
            </a:r>
            <a:r>
              <a:rPr sz="23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3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multiview</a:t>
            </a:r>
            <a:r>
              <a:rPr sz="23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dan </a:t>
            </a:r>
            <a:r>
              <a:rPr sz="23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informasi</a:t>
            </a:r>
            <a:r>
              <a:rPr sz="23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3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klinis</a:t>
            </a:r>
            <a:endParaRPr sz="2325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720AEA-7E1F-4B22-8227-769FFEEBCBBA}"/>
              </a:ext>
            </a:extLst>
          </p:cNvPr>
          <p:cNvSpPr>
            <a:spLocks noGrp="1"/>
          </p:cNvSpPr>
          <p:nvPr/>
        </p:nvSpPr>
        <p:spPr>
          <a:xfrm>
            <a:off x="666750" y="5524500"/>
            <a:ext cx="139065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Aplikasi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MVCBM pada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apendisitis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memakai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citra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/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konsep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USG,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dengan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mean pooling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atau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LSTM.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Usulan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menggabungkan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fitur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klinis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dan attention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khusus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tanpa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bergantung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pada </a:t>
            </a:r>
            <a:r>
              <a:rPr sz="21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urutan</a:t>
            </a:r>
            <a:r>
              <a:rPr sz="21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input.</a:t>
            </a:r>
          </a:p>
        </p:txBody>
      </p:sp>
    </p:spTree>
    <p:extLst>
      <p:ext uri="{BB962C8B-B14F-4D97-AF65-F5344CB8AC3E}">
        <p14:creationId xmlns:p14="http://schemas.microsoft.com/office/powerpoint/2010/main" val="1737919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3B5D080-F29E-4AC0-AF1F-E80E3A251D6A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38112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Penelitian utama 1: agregasi multiview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9B1857-6D12-4889-9A6B-EB6821559C48}"/>
              </a:ext>
            </a:extLst>
          </p:cNvPr>
          <p:cNvSpPr>
            <a:spLocks noGrp="1"/>
          </p:cNvSpPr>
          <p:nvPr/>
        </p:nvSpPr>
        <p:spPr>
          <a:xfrm>
            <a:off x="666750" y="8250555"/>
            <a:ext cx="13144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Marcinkevičs</a:t>
            </a:r>
            <a:r>
              <a:rPr sz="12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12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dkk</a:t>
            </a:r>
            <a:r>
              <a:rPr sz="12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 (2024), Medical Image Analysis, Q1 </a:t>
            </a:r>
            <a:r>
              <a:rPr sz="12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SCImago</a:t>
            </a:r>
            <a:r>
              <a:rPr sz="12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2025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A4087B-2877-4605-9B98-FA75CB834DCB}"/>
              </a:ext>
            </a:extLst>
          </p:cNvPr>
          <p:cNvSpPr>
            <a:spLocks noGrp="1"/>
          </p:cNvSpPr>
          <p:nvPr/>
        </p:nvSpPr>
        <p:spPr>
          <a:xfrm>
            <a:off x="14097000" y="8058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2DB05B-C56C-4F8B-ADCE-DDC93D2A58CE}"/>
              </a:ext>
            </a:extLst>
          </p:cNvPr>
          <p:cNvSpPr>
            <a:spLocks noGrp="1"/>
          </p:cNvSpPr>
          <p:nvPr/>
        </p:nvSpPr>
        <p:spPr>
          <a:xfrm>
            <a:off x="666750" y="1533525"/>
            <a:ext cx="13906500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Interpretable and Intervenable Ultrasonography-based</a:t>
            </a:r>
          </a:p>
          <a:p>
            <a: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Machine Learning Models for Pediatric Appendicitis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F86141-2DE9-4871-A6B7-190CD5D437B6}"/>
              </a:ext>
            </a:extLst>
          </p:cNvPr>
          <p:cNvSpPr>
            <a:spLocks noGrp="1"/>
          </p:cNvSpPr>
          <p:nvPr/>
        </p:nvSpPr>
        <p:spPr>
          <a:xfrm>
            <a:off x="666750" y="2628900"/>
            <a:ext cx="13906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 </a:t>
            </a:r>
            <a:r>
              <a:rPr sz="23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prediksi</a:t>
            </a:r>
            <a:endParaRPr sz="2325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C669C2-9D6D-4AA5-9397-5ADC586B5C17}"/>
              </a:ext>
            </a:extLst>
          </p:cNvPr>
          <p:cNvSpPr>
            <a:spLocks noGrp="1"/>
          </p:cNvSpPr>
          <p:nvPr/>
        </p:nvSpPr>
        <p:spPr>
          <a:xfrm>
            <a:off x="666750" y="3028950"/>
            <a:ext cx="71056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MVCBM / SSMVCBM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mengolah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beberapa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citra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pasien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melalui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encoder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bersama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mean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atau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LSTM,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lalu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concept bottleneck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untuk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prediksi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diagnosis, management, dan severity.</a:t>
            </a:r>
            <a:r>
              <a:rPr lang="en-US"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endParaRPr sz="2000" b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2BD6E7-F4B2-4FB1-BA8E-98E19CE3CECB}"/>
              </a:ext>
            </a:extLst>
          </p:cNvPr>
          <p:cNvSpPr>
            <a:spLocks noGrp="1"/>
          </p:cNvSpPr>
          <p:nvPr/>
        </p:nvSpPr>
        <p:spPr>
          <a:xfrm>
            <a:off x="666750" y="4210049"/>
            <a:ext cx="13906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Kelemahan</a:t>
            </a:r>
            <a:r>
              <a:rPr sz="23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3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Penelitian</a:t>
            </a:r>
            <a:endParaRPr sz="2325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3575FD-591A-4921-B470-209203D679AA}"/>
              </a:ext>
            </a:extLst>
          </p:cNvPr>
          <p:cNvSpPr>
            <a:spLocks noGrp="1"/>
          </p:cNvSpPr>
          <p:nvPr/>
        </p:nvSpPr>
        <p:spPr>
          <a:xfrm>
            <a:off x="666750" y="4612004"/>
            <a:ext cx="7105650" cy="131635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Belum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menggabungkan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fitur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klinis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sebagai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cabang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fusi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pada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aplikasi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apendisitis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 Mean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memberi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bobot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sama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pada view. LSTM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memodelkan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urutan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dan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prediksinya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dapat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berubah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ketika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urutan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citra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berubah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65BDC5-B659-4B90-A867-F003E96FEE73}"/>
              </a:ext>
            </a:extLst>
          </p:cNvPr>
          <p:cNvSpPr>
            <a:spLocks noGrp="1"/>
          </p:cNvSpPr>
          <p:nvPr/>
        </p:nvSpPr>
        <p:spPr>
          <a:xfrm>
            <a:off x="666750" y="6125527"/>
            <a:ext cx="13906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Peran </a:t>
            </a:r>
            <a:r>
              <a:rPr lang="en-US" sz="23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</a:t>
            </a:r>
            <a:r>
              <a:rPr sz="23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sulan</a:t>
            </a:r>
            <a:r>
              <a:rPr sz="23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3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</a:t>
            </a:r>
            <a:r>
              <a:rPr sz="23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enelitian</a:t>
            </a:r>
            <a:endParaRPr sz="2325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118E04-E49D-4075-BAB0-42BDE59AA63E}"/>
              </a:ext>
            </a:extLst>
          </p:cNvPr>
          <p:cNvSpPr>
            <a:spLocks noGrp="1"/>
          </p:cNvSpPr>
          <p:nvPr/>
        </p:nvSpPr>
        <p:spPr>
          <a:xfrm>
            <a:off x="666750" y="6516051"/>
            <a:ext cx="6953250" cy="170021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Menambahkan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cabang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klinis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dan dua attention-MIL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untuk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diagnosis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serta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komplikasi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Menguji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pembobotan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dengan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pendekatan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aggregasi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attention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lang="en-US"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robust </a:t>
            </a:r>
            <a:r>
              <a:rPr lang="en-US"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terhadap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urutan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dan output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hierarkis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dengan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pembanding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mean / LSTM.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38EFE2D-8931-0DDE-1679-F554AF87B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9100" y="3357518"/>
            <a:ext cx="7200900" cy="374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05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64EC7DA-791C-41E6-8D05-8F653F333D29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38112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Penelitian utama 2: fusi klinis dan citra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5BBCC1-F79A-4A90-ADB1-1C7150B83785}"/>
              </a:ext>
            </a:extLst>
          </p:cNvPr>
          <p:cNvSpPr>
            <a:spLocks noGrp="1"/>
          </p:cNvSpPr>
          <p:nvPr/>
        </p:nvSpPr>
        <p:spPr>
          <a:xfrm>
            <a:off x="666750" y="8029575"/>
            <a:ext cx="13144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Barthwal </a:t>
            </a:r>
            <a:r>
              <a:rPr sz="12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dkk</a:t>
            </a:r>
            <a:r>
              <a:rPr sz="12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 (2026), Egyptian Pediatric Association Gazette, Springer Nature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0EC715-2EC2-40A8-B112-CA83EDB2EDA5}"/>
              </a:ext>
            </a:extLst>
          </p:cNvPr>
          <p:cNvSpPr>
            <a:spLocks noGrp="1"/>
          </p:cNvSpPr>
          <p:nvPr/>
        </p:nvSpPr>
        <p:spPr>
          <a:xfrm>
            <a:off x="14097000" y="8058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314AE7-5D1B-4609-B610-E32DA793D0A7}"/>
              </a:ext>
            </a:extLst>
          </p:cNvPr>
          <p:cNvSpPr>
            <a:spLocks noGrp="1"/>
          </p:cNvSpPr>
          <p:nvPr/>
        </p:nvSpPr>
        <p:spPr>
          <a:xfrm>
            <a:off x="666750" y="1533525"/>
            <a:ext cx="13906500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Multimodal Explainable AI Approach to Pediatric Appendicitis</a:t>
            </a:r>
          </a:p>
          <a:p>
            <a: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Detection: Integrating Clinical Data and Ultrasound Images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756814-9466-4E72-B04E-824018B392FF}"/>
              </a:ext>
            </a:extLst>
          </p:cNvPr>
          <p:cNvSpPr>
            <a:spLocks noGrp="1"/>
          </p:cNvSpPr>
          <p:nvPr/>
        </p:nvSpPr>
        <p:spPr>
          <a:xfrm>
            <a:off x="666750" y="2646045"/>
            <a:ext cx="728853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 </a:t>
            </a:r>
            <a:r>
              <a:rPr sz="23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prediksi</a:t>
            </a:r>
            <a:endParaRPr sz="2325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CD405C-9A25-467F-BBB7-53848B237475}"/>
              </a:ext>
            </a:extLst>
          </p:cNvPr>
          <p:cNvSpPr>
            <a:spLocks noGrp="1"/>
          </p:cNvSpPr>
          <p:nvPr/>
        </p:nvSpPr>
        <p:spPr>
          <a:xfrm>
            <a:off x="666750" y="3074670"/>
            <a:ext cx="728853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ResNet-18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mengekstrak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fitur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citra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USG,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TabNet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mengolah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fitur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klinis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lalu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cross-attention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menggabungkan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keduanya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untuk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diagnosis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apendisitis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biner.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0045B0-5CF1-4082-9152-7D3C4B166C44}"/>
              </a:ext>
            </a:extLst>
          </p:cNvPr>
          <p:cNvSpPr>
            <a:spLocks noGrp="1"/>
          </p:cNvSpPr>
          <p:nvPr/>
        </p:nvSpPr>
        <p:spPr>
          <a:xfrm>
            <a:off x="666750" y="4286250"/>
            <a:ext cx="13906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Kelemahan</a:t>
            </a:r>
            <a:r>
              <a:rPr sz="23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3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Penelitian</a:t>
            </a:r>
            <a:endParaRPr sz="2325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168E69-FCD8-475B-B24E-435803C71D76}"/>
              </a:ext>
            </a:extLst>
          </p:cNvPr>
          <p:cNvSpPr>
            <a:spLocks noGrp="1"/>
          </p:cNvSpPr>
          <p:nvPr/>
        </p:nvSpPr>
        <p:spPr>
          <a:xfrm>
            <a:off x="666750" y="4724400"/>
            <a:ext cx="728853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Mekanisme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agregasi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antar-citra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sebagai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satu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representasi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pasien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belum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dirinci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 Model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belum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mengevaluasi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diagnosis dan status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komplikasi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dalam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output.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AD5264-1936-4029-B56E-B0C9E2C99AB5}"/>
              </a:ext>
            </a:extLst>
          </p:cNvPr>
          <p:cNvSpPr>
            <a:spLocks noGrp="1"/>
          </p:cNvSpPr>
          <p:nvPr/>
        </p:nvSpPr>
        <p:spPr>
          <a:xfrm>
            <a:off x="666750" y="5935980"/>
            <a:ext cx="13906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Peran </a:t>
            </a:r>
            <a:r>
              <a:rPr lang="en-US" sz="23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</a:t>
            </a:r>
            <a:r>
              <a:rPr sz="23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sulan</a:t>
            </a:r>
            <a:r>
              <a:rPr sz="23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3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</a:t>
            </a:r>
            <a:r>
              <a:rPr sz="23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enelitia</a:t>
            </a:r>
            <a:r>
              <a:rPr lang="en-US" sz="23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</a:t>
            </a:r>
            <a:endParaRPr sz="2325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2A8F27-FE9D-4B9A-B719-0F67DC86CCF1}"/>
              </a:ext>
            </a:extLst>
          </p:cNvPr>
          <p:cNvSpPr>
            <a:spLocks noGrp="1"/>
          </p:cNvSpPr>
          <p:nvPr/>
        </p:nvSpPr>
        <p:spPr>
          <a:xfrm>
            <a:off x="666750" y="6341744"/>
            <a:ext cx="7288530" cy="149923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Mendefinisikan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satu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pasien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sebagai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satu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bag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citra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mengagregasi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view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dengan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attention-MIL, dan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menggabungkannya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dengan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data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klinis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untuk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membentuk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probabilitas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tiga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kelas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6CBAFED-AC1B-97DD-2731-89FEDFCAE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964" y="2630475"/>
            <a:ext cx="6631196" cy="418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68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9EE7C92-8C08-4E8E-B9BF-7C7CB0803328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38112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Penelitian utama 3: klasifikasi citra USG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C300CA-623C-4B22-903A-B3D57BD5295D}"/>
              </a:ext>
            </a:extLst>
          </p:cNvPr>
          <p:cNvSpPr>
            <a:spLocks noGrp="1"/>
          </p:cNvSpPr>
          <p:nvPr/>
        </p:nvSpPr>
        <p:spPr>
          <a:xfrm>
            <a:off x="666750" y="8215312"/>
            <a:ext cx="13144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Fernández Santana </a:t>
            </a:r>
            <a:r>
              <a:rPr sz="12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dkk</a:t>
            </a:r>
            <a:r>
              <a:rPr sz="12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 (2026), Knowledge-Based Systems, Q1 </a:t>
            </a:r>
            <a:r>
              <a:rPr sz="127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SCImago</a:t>
            </a:r>
            <a:r>
              <a:rPr sz="127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2025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60AF76-2239-4D42-86A6-54404944469B}"/>
              </a:ext>
            </a:extLst>
          </p:cNvPr>
          <p:cNvSpPr>
            <a:spLocks noGrp="1"/>
          </p:cNvSpPr>
          <p:nvPr/>
        </p:nvSpPr>
        <p:spPr>
          <a:xfrm>
            <a:off x="14097000" y="8058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0E94F4-741E-456F-9103-CB6B6235338C}"/>
              </a:ext>
            </a:extLst>
          </p:cNvPr>
          <p:cNvSpPr>
            <a:spLocks noGrp="1"/>
          </p:cNvSpPr>
          <p:nvPr/>
        </p:nvSpPr>
        <p:spPr>
          <a:xfrm>
            <a:off x="666750" y="1533525"/>
            <a:ext cx="13906500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Enhanced Vision Transformer-based Diagnosis of Pediatric</a:t>
            </a:r>
          </a:p>
          <a:p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Appendicitis using GAN-based Data Augmentation on Ultrasound Images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6F99BD-B2A1-40A2-B408-9CD4BE43EC28}"/>
              </a:ext>
            </a:extLst>
          </p:cNvPr>
          <p:cNvSpPr>
            <a:spLocks noGrp="1"/>
          </p:cNvSpPr>
          <p:nvPr/>
        </p:nvSpPr>
        <p:spPr>
          <a:xfrm>
            <a:off x="666750" y="2609850"/>
            <a:ext cx="13906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Model </a:t>
            </a:r>
            <a:r>
              <a:rPr sz="23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prediksi</a:t>
            </a:r>
            <a:endParaRPr sz="2325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69F075-1F36-4876-AF81-16039A132A5E}"/>
              </a:ext>
            </a:extLst>
          </p:cNvPr>
          <p:cNvSpPr>
            <a:spLocks noGrp="1"/>
          </p:cNvSpPr>
          <p:nvPr/>
        </p:nvSpPr>
        <p:spPr>
          <a:xfrm>
            <a:off x="666750" y="3028950"/>
            <a:ext cx="679323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StyleGAN2-ADA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menghasilkan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citra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sintetis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untuk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augmentasi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training. Swin Transformer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mengklasifikasikan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citra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USG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menjadi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apendisitis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atau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non-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apendisitis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dengan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pemisahan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berdasarkan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pasien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3FB08F-EE2D-4933-A695-C85205622451}"/>
              </a:ext>
            </a:extLst>
          </p:cNvPr>
          <p:cNvSpPr>
            <a:spLocks noGrp="1"/>
          </p:cNvSpPr>
          <p:nvPr/>
        </p:nvSpPr>
        <p:spPr>
          <a:xfrm>
            <a:off x="666750" y="4476750"/>
            <a:ext cx="13906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Kelemahan</a:t>
            </a:r>
            <a:r>
              <a:rPr sz="23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3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relatif</a:t>
            </a:r>
            <a:r>
              <a:rPr sz="23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3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terhadap</a:t>
            </a:r>
            <a:r>
              <a:rPr sz="23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3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tujuan</a:t>
            </a:r>
            <a:r>
              <a:rPr sz="23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3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usulan</a:t>
            </a:r>
            <a:endParaRPr sz="2325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95A513-3986-4B9E-8708-A171D1D5BAD7}"/>
              </a:ext>
            </a:extLst>
          </p:cNvPr>
          <p:cNvSpPr>
            <a:spLocks noGrp="1"/>
          </p:cNvSpPr>
          <p:nvPr/>
        </p:nvSpPr>
        <p:spPr>
          <a:xfrm>
            <a:off x="666750" y="4895850"/>
            <a:ext cx="679323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Berfokus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pada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citra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tanpa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fusi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data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klinis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atau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output status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komplikasi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Augmentasi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memperbaiki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sebagian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keseimbangan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klasifikasi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,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tetapi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tidak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meningkatkan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AUC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secara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jelas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8713BF-F7EC-428C-AD61-A946808374B8}"/>
              </a:ext>
            </a:extLst>
          </p:cNvPr>
          <p:cNvSpPr>
            <a:spLocks noGrp="1"/>
          </p:cNvSpPr>
          <p:nvPr/>
        </p:nvSpPr>
        <p:spPr>
          <a:xfrm>
            <a:off x="666750" y="6329362"/>
            <a:ext cx="13906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Peran </a:t>
            </a:r>
            <a:r>
              <a:rPr sz="23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usulan</a:t>
            </a:r>
            <a:r>
              <a:rPr sz="232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32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penelitian</a:t>
            </a:r>
            <a:endParaRPr sz="2325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DAEEDC-76B7-4085-9ABD-887EFFE6B657}"/>
              </a:ext>
            </a:extLst>
          </p:cNvPr>
          <p:cNvSpPr>
            <a:spLocks noGrp="1"/>
          </p:cNvSpPr>
          <p:nvPr/>
        </p:nvSpPr>
        <p:spPr>
          <a:xfrm>
            <a:off x="666750" y="6748462"/>
            <a:ext cx="679323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Menggunakan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bag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citra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dan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informasi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klinis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untuk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prediksi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tingkat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pasien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Mempertahankan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split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pasien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serta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preprocessing training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sebagai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standar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evaluasi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 Manfaat MIL dan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hierarki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diuji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secara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terpisah</a:t>
            </a:r>
            <a:r>
              <a:rPr sz="2000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7D65473-C8DA-7D09-8A18-82B2F14872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3320" y="3157601"/>
            <a:ext cx="7620000" cy="3590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258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Connector: Elbow 25"/>
          <p:cNvCxnSpPr>
            <a:stCxn id="14" idx="3"/>
            <a:endCxn id="10" idx="2"/>
          </p:cNvCxnSpPr>
          <p:nvPr/>
        </p:nvCxnSpPr>
        <p:spPr>
          <a:xfrm flipV="1">
            <a:off x="5715000" y="5876925"/>
            <a:ext cx="4810125" cy="1062038"/>
          </a:xfrm>
          <a:prstGeom prst="bentConnector2">
            <a:avLst/>
          </a:prstGeom>
          <a:ln w="17145">
            <a:solidFill>
              <a:srgbClr val="000000"/>
            </a:solidFill>
            <a:tailEnd type="triangle" w="sm" len="sm"/>
          </a:ln>
        </p:spPr>
      </p:cxnSp>
      <p:cxnSp>
        <p:nvCxnSpPr>
          <p:cNvPr id="27" name="Connector: Elbow 26"/>
          <p:cNvCxnSpPr>
            <a:stCxn id="14" idx="3"/>
            <a:endCxn id="9" idx="2"/>
          </p:cNvCxnSpPr>
          <p:nvPr/>
        </p:nvCxnSpPr>
        <p:spPr>
          <a:xfrm flipV="1">
            <a:off x="5715000" y="3705225"/>
            <a:ext cx="4810125" cy="3233738"/>
          </a:xfrm>
          <a:prstGeom prst="bentConnector4">
            <a:avLst>
              <a:gd name="adj1" fmla="val 4752"/>
              <a:gd name="adj2" fmla="val 92931"/>
            </a:avLst>
          </a:prstGeom>
          <a:ln w="17145">
            <a:solidFill>
              <a:srgbClr val="000000"/>
            </a:solidFill>
            <a:tailEnd type="triangle" w="sm" len="sm"/>
          </a:ln>
        </p:spPr>
      </p:cxnSp>
      <p:cxnSp>
        <p:nvCxnSpPr>
          <p:cNvPr id="28" name="Straight Arrow Connector 27"/>
          <p:cNvCxnSpPr>
            <a:stCxn id="13" idx="3"/>
            <a:endCxn id="14" idx="1"/>
          </p:cNvCxnSpPr>
          <p:nvPr/>
        </p:nvCxnSpPr>
        <p:spPr>
          <a:xfrm>
            <a:off x="2857500" y="6938963"/>
            <a:ext cx="523875" cy="0"/>
          </a:xfrm>
          <a:prstGeom prst="straightConnector1">
            <a:avLst/>
          </a:prstGeom>
          <a:ln w="17145">
            <a:solidFill>
              <a:srgbClr val="000000"/>
            </a:solidFill>
            <a:tailEnd type="triangle" w="sm" len="sm"/>
          </a:ln>
        </p:spPr>
      </p:cxnSp>
      <p:cxnSp>
        <p:nvCxnSpPr>
          <p:cNvPr id="29" name="Straight Arrow Connector 28"/>
          <p:cNvCxnSpPr>
            <a:stCxn id="10" idx="3"/>
            <a:endCxn id="12" idx="1"/>
          </p:cNvCxnSpPr>
          <p:nvPr/>
        </p:nvCxnSpPr>
        <p:spPr>
          <a:xfrm>
            <a:off x="11715750" y="5176838"/>
            <a:ext cx="619125" cy="0"/>
          </a:xfrm>
          <a:prstGeom prst="straightConnector1">
            <a:avLst/>
          </a:prstGeom>
          <a:ln w="17145">
            <a:solidFill>
              <a:srgbClr val="000000"/>
            </a:solidFill>
            <a:tailEnd type="triangle" w="sm" len="sm"/>
          </a:ln>
        </p:spPr>
      </p:cxnSp>
      <p:cxnSp>
        <p:nvCxnSpPr>
          <p:cNvPr id="30" name="Straight Arrow Connector 29"/>
          <p:cNvCxnSpPr>
            <a:stCxn id="9" idx="3"/>
            <a:endCxn id="11" idx="1"/>
          </p:cNvCxnSpPr>
          <p:nvPr/>
        </p:nvCxnSpPr>
        <p:spPr>
          <a:xfrm>
            <a:off x="11715750" y="3005138"/>
            <a:ext cx="619125" cy="0"/>
          </a:xfrm>
          <a:prstGeom prst="straightConnector1">
            <a:avLst/>
          </a:prstGeom>
          <a:ln w="17145">
            <a:solidFill>
              <a:srgbClr val="000000"/>
            </a:solidFill>
            <a:tailEnd type="triangle" w="sm" len="sm"/>
          </a:ln>
        </p:spPr>
      </p:cxnSp>
      <p:cxnSp>
        <p:nvCxnSpPr>
          <p:cNvPr id="31" name="Straight Arrow Connector 30"/>
          <p:cNvCxnSpPr>
            <a:stCxn id="8" idx="3"/>
            <a:endCxn id="10" idx="1"/>
          </p:cNvCxnSpPr>
          <p:nvPr/>
        </p:nvCxnSpPr>
        <p:spPr>
          <a:xfrm>
            <a:off x="8715375" y="5176838"/>
            <a:ext cx="619125" cy="0"/>
          </a:xfrm>
          <a:prstGeom prst="straightConnector1">
            <a:avLst/>
          </a:prstGeom>
          <a:ln w="17145">
            <a:solidFill>
              <a:srgbClr val="000000"/>
            </a:solidFill>
            <a:tailEnd type="triangle" w="sm" len="sm"/>
          </a:ln>
        </p:spPr>
      </p:cxnSp>
      <p:cxnSp>
        <p:nvCxnSpPr>
          <p:cNvPr id="32" name="Straight Arrow Connector 31"/>
          <p:cNvCxnSpPr>
            <a:stCxn id="7" idx="3"/>
            <a:endCxn id="9" idx="1"/>
          </p:cNvCxnSpPr>
          <p:nvPr/>
        </p:nvCxnSpPr>
        <p:spPr>
          <a:xfrm>
            <a:off x="8715375" y="3005138"/>
            <a:ext cx="619125" cy="0"/>
          </a:xfrm>
          <a:prstGeom prst="straightConnector1">
            <a:avLst/>
          </a:prstGeom>
          <a:ln w="17145">
            <a:solidFill>
              <a:srgbClr val="000000"/>
            </a:solidFill>
            <a:tailEnd type="triangle" w="sm" len="sm"/>
          </a:ln>
        </p:spPr>
      </p:cxnSp>
      <p:cxnSp>
        <p:nvCxnSpPr>
          <p:cNvPr id="33" name="Connector: Elbow 32"/>
          <p:cNvCxnSpPr>
            <a:stCxn id="6" idx="3"/>
            <a:endCxn id="8" idx="1"/>
          </p:cNvCxnSpPr>
          <p:nvPr/>
        </p:nvCxnSpPr>
        <p:spPr>
          <a:xfrm>
            <a:off x="5715000" y="3714750"/>
            <a:ext cx="619125" cy="1462088"/>
          </a:xfrm>
          <a:prstGeom prst="bentConnector3">
            <a:avLst>
              <a:gd name="adj1" fmla="val 50000"/>
            </a:avLst>
          </a:prstGeom>
          <a:ln w="17145">
            <a:solidFill>
              <a:srgbClr val="000000"/>
            </a:solidFill>
            <a:tailEnd type="triangle" w="sm" len="sm"/>
          </a:ln>
        </p:spPr>
      </p:cxnSp>
      <p:cxnSp>
        <p:nvCxnSpPr>
          <p:cNvPr id="34" name="Connector: Elbow 33"/>
          <p:cNvCxnSpPr>
            <a:stCxn id="6" idx="3"/>
            <a:endCxn id="7" idx="1"/>
          </p:cNvCxnSpPr>
          <p:nvPr/>
        </p:nvCxnSpPr>
        <p:spPr>
          <a:xfrm flipV="1">
            <a:off x="5715000" y="3005138"/>
            <a:ext cx="619125" cy="709613"/>
          </a:xfrm>
          <a:prstGeom prst="bentConnector3">
            <a:avLst>
              <a:gd name="adj1" fmla="val 50000"/>
            </a:avLst>
          </a:prstGeom>
          <a:ln w="17145">
            <a:solidFill>
              <a:srgbClr val="000000"/>
            </a:solidFill>
            <a:tailEnd type="triangle" w="sm" len="sm"/>
          </a:ln>
        </p:spPr>
      </p:cxnSp>
      <p:cxnSp>
        <p:nvCxnSpPr>
          <p:cNvPr id="35" name="Straight Arrow Connector 34"/>
          <p:cNvCxnSpPr>
            <a:stCxn id="5" idx="3"/>
            <a:endCxn id="6" idx="1"/>
          </p:cNvCxnSpPr>
          <p:nvPr/>
        </p:nvCxnSpPr>
        <p:spPr>
          <a:xfrm>
            <a:off x="2857500" y="3714750"/>
            <a:ext cx="523875" cy="0"/>
          </a:xfrm>
          <a:prstGeom prst="straightConnector1">
            <a:avLst/>
          </a:prstGeom>
          <a:ln w="17145">
            <a:solidFill>
              <a:srgbClr val="000000"/>
            </a:solidFill>
            <a:tailEnd type="triangle" w="sm" len="sm"/>
          </a:ln>
        </p:spPr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C6E0808C-13C3-49FC-B444-6A395834E4C2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38112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Proposed model: multimodal dual-branch attention-MIL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2E7784-99B7-4646-A84B-1B6ADAA16E40}"/>
              </a:ext>
            </a:extLst>
          </p:cNvPr>
          <p:cNvSpPr>
            <a:spLocks noGrp="1"/>
          </p:cNvSpPr>
          <p:nvPr/>
        </p:nvSpPr>
        <p:spPr>
          <a:xfrm>
            <a:off x="14097000" y="8058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B55A95-CA7A-40DE-B95B-FD6121EE359A}"/>
              </a:ext>
            </a:extLst>
          </p:cNvPr>
          <p:cNvSpPr>
            <a:spLocks noGrp="1"/>
          </p:cNvSpPr>
          <p:nvPr/>
        </p:nvSpPr>
        <p:spPr>
          <a:xfrm>
            <a:off x="666750" y="1514475"/>
            <a:ext cx="13906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Unit analisis: satu pasien dengan satu data klinis dan 1 atau lebih citra USG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6E23A1-06B7-49D9-BFB3-58F1D52E468A}"/>
              </a:ext>
            </a:extLst>
          </p:cNvPr>
          <p:cNvSpPr>
            <a:spLocks noGrp="1"/>
          </p:cNvSpPr>
          <p:nvPr/>
        </p:nvSpPr>
        <p:spPr>
          <a:xfrm>
            <a:off x="666750" y="2905125"/>
            <a:ext cx="2190750" cy="16192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21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000000"/>
                </a:solidFill>
                <a:latin typeface="Arial"/>
                <a:ea typeface="Arial"/>
                <a:cs typeface="Arial"/>
              </a:rPr>
              <a:t>Bag citra USG</a:t>
            </a:r>
          </a:p>
          <a:p>
            <a:pPr algn="ctr">
              <a:defRPr sz="21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000000"/>
                </a:solidFill>
                <a:latin typeface="Arial"/>
                <a:ea typeface="Arial"/>
                <a:cs typeface="Arial"/>
              </a:rPr>
              <a:t>X₁, …, Xₙ</a:t>
            </a:r>
          </a:p>
          <a:p>
            <a:pPr algn="ctr">
              <a:defRPr sz="21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>
                <a:solidFill>
                  <a:srgbClr val="000000"/>
                </a:solidFill>
                <a:latin typeface="Arial"/>
                <a:ea typeface="Arial"/>
                <a:cs typeface="Arial"/>
              </a:rPr>
              <a:t>n ≥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3BBAB9-1FD4-4B2F-821F-1B7783356055}"/>
              </a:ext>
            </a:extLst>
          </p:cNvPr>
          <p:cNvSpPr>
            <a:spLocks noGrp="1"/>
          </p:cNvSpPr>
          <p:nvPr/>
        </p:nvSpPr>
        <p:spPr>
          <a:xfrm>
            <a:off x="3381375" y="2905125"/>
            <a:ext cx="2333625" cy="1619250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000000"/>
                </a:solidFill>
                <a:latin typeface="Arial"/>
                <a:ea typeface="Arial"/>
                <a:cs typeface="Arial"/>
              </a:rPr>
              <a:t>Shared</a:t>
            </a:r>
          </a:p>
          <a:p>
            <a:pPr algn="ctr"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ResNet-18</a:t>
            </a:r>
          </a:p>
          <a:p>
            <a:pPr algn="ctr">
              <a:defRPr sz="21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000000"/>
                </a:solidFill>
                <a:latin typeface="Arial"/>
                <a:ea typeface="Arial"/>
                <a:cs typeface="Arial"/>
              </a:rPr>
              <a:t>Fitur tiap citra hⱼ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E7EAA7-FAED-4603-B507-04019EE4FF20}"/>
              </a:ext>
            </a:extLst>
          </p:cNvPr>
          <p:cNvSpPr>
            <a:spLocks noGrp="1"/>
          </p:cNvSpPr>
          <p:nvPr/>
        </p:nvSpPr>
        <p:spPr>
          <a:xfrm>
            <a:off x="6334125" y="2305050"/>
            <a:ext cx="2381250" cy="1400175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Attention-MIL</a:t>
            </a:r>
          </a:p>
          <a:p>
            <a:pPr algn="ctr"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diagnosis</a:t>
            </a:r>
          </a:p>
          <a:p>
            <a:pPr algn="ctr"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zD = Σ αDⱼ hⱼ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8F4035-A32E-464A-9432-F88E83C2E60D}"/>
              </a:ext>
            </a:extLst>
          </p:cNvPr>
          <p:cNvSpPr>
            <a:spLocks noGrp="1"/>
          </p:cNvSpPr>
          <p:nvPr/>
        </p:nvSpPr>
        <p:spPr>
          <a:xfrm>
            <a:off x="6334125" y="4476750"/>
            <a:ext cx="2381250" cy="1400175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Attention-MIL</a:t>
            </a:r>
          </a:p>
          <a:p>
            <a:pPr algn="ctr"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komplikasi</a:t>
            </a:r>
          </a:p>
          <a:p>
            <a:pPr algn="ctr"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zC = Σ αCⱼ hⱼ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54CD89-1F51-4620-A230-7C33F09EB2BE}"/>
              </a:ext>
            </a:extLst>
          </p:cNvPr>
          <p:cNvSpPr>
            <a:spLocks noGrp="1"/>
          </p:cNvSpPr>
          <p:nvPr/>
        </p:nvSpPr>
        <p:spPr>
          <a:xfrm>
            <a:off x="9334500" y="2305050"/>
            <a:ext cx="2381250" cy="1400175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Fusion MLP</a:t>
            </a:r>
          </a:p>
          <a:p>
            <a:pPr algn="ctr"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zD + embedding</a:t>
            </a:r>
          </a:p>
          <a:p>
            <a:pPr algn="ctr"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klinis 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56232E-A8DD-4982-86BD-D91D938345F2}"/>
              </a:ext>
            </a:extLst>
          </p:cNvPr>
          <p:cNvSpPr>
            <a:spLocks noGrp="1"/>
          </p:cNvSpPr>
          <p:nvPr/>
        </p:nvSpPr>
        <p:spPr>
          <a:xfrm>
            <a:off x="9334500" y="4476750"/>
            <a:ext cx="2381250" cy="1400175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Fusion MLP</a:t>
            </a:r>
          </a:p>
          <a:p>
            <a:pPr algn="ctr"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zC + embedding</a:t>
            </a:r>
          </a:p>
          <a:p>
            <a:pPr algn="ctr"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klinis 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A564F4-0E9A-4468-8996-FCA3BE0929F4}"/>
              </a:ext>
            </a:extLst>
          </p:cNvPr>
          <p:cNvSpPr>
            <a:spLocks noGrp="1"/>
          </p:cNvSpPr>
          <p:nvPr/>
        </p:nvSpPr>
        <p:spPr>
          <a:xfrm>
            <a:off x="12334875" y="2305050"/>
            <a:ext cx="2238375" cy="1400175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Head diagnosis</a:t>
            </a:r>
          </a:p>
          <a:p>
            <a:pPr algn="ctr"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Sigmoid</a:t>
            </a:r>
          </a:p>
          <a:p>
            <a:pPr algn="ctr">
              <a:defRPr sz="19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000000"/>
                </a:solidFill>
                <a:latin typeface="Arial"/>
                <a:ea typeface="Arial"/>
                <a:cs typeface="Arial"/>
              </a:rPr>
              <a:t>p = P(A | X, c)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3DD88F-62DA-4515-95BD-74159C53E1F1}"/>
              </a:ext>
            </a:extLst>
          </p:cNvPr>
          <p:cNvSpPr>
            <a:spLocks noGrp="1"/>
          </p:cNvSpPr>
          <p:nvPr/>
        </p:nvSpPr>
        <p:spPr>
          <a:xfrm>
            <a:off x="12334875" y="4476750"/>
            <a:ext cx="2238375" cy="1400175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Head komplikasi</a:t>
            </a:r>
          </a:p>
          <a:p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Sigmoid</a:t>
            </a:r>
          </a:p>
          <a:p>
            <a:pPr algn="ctr">
              <a:defRPr sz="187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>
                <a:solidFill>
                  <a:srgbClr val="000000"/>
                </a:solidFill>
                <a:latin typeface="Arial"/>
                <a:ea typeface="Arial"/>
                <a:cs typeface="Arial"/>
              </a:rPr>
              <a:t>q = P(C | A, X, c)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745BD3-6379-4B56-9965-7AA53AC5078E}"/>
              </a:ext>
            </a:extLst>
          </p:cNvPr>
          <p:cNvSpPr>
            <a:spLocks noGrp="1"/>
          </p:cNvSpPr>
          <p:nvPr/>
        </p:nvSpPr>
        <p:spPr>
          <a:xfrm>
            <a:off x="666750" y="6486525"/>
            <a:ext cx="2190750" cy="904875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 klinis</a:t>
            </a:r>
          </a:p>
          <a:p>
            <a:pPr algn="ctr"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3128ED-B6F1-4428-AF47-347719912788}"/>
              </a:ext>
            </a:extLst>
          </p:cNvPr>
          <p:cNvSpPr>
            <a:spLocks noGrp="1"/>
          </p:cNvSpPr>
          <p:nvPr/>
        </p:nvSpPr>
        <p:spPr>
          <a:xfrm>
            <a:off x="3381375" y="6486525"/>
            <a:ext cx="2333625" cy="904875"/>
          </a:xfrm>
          <a:prstGeom prst="rect">
            <a:avLst/>
          </a:prstGeom>
          <a:solidFill>
            <a:srgbClr val="FFFFFF"/>
          </a:solidFill>
          <a:ln w="13335">
            <a:solidFill>
              <a:srgbClr val="000000"/>
            </a:solidFill>
          </a:ln>
        </p:spPr>
        <p:txBody>
          <a:bodyPr wrap="square" lIns="76200" tIns="76200" rIns="76200" bIns="76200" anchor="ctr">
            <a:noAutofit/>
          </a:bodyPr>
          <a:lstStyle/>
          <a:p>
            <a:pPr algn="ctr"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000000"/>
                </a:solidFill>
                <a:latin typeface="Arial"/>
                <a:ea typeface="Arial"/>
                <a:cs typeface="Arial"/>
              </a:rPr>
              <a:t>MLP klinis</a:t>
            </a:r>
          </a:p>
          <a:p>
            <a:pPr algn="ctr"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000000"/>
                </a:solidFill>
                <a:latin typeface="Arial"/>
                <a:ea typeface="Arial"/>
                <a:cs typeface="Arial"/>
              </a:rPr>
              <a:t>Embedding e</a:t>
            </a:r>
          </a:p>
        </p:txBody>
      </p:sp>
    </p:spTree>
    <p:extLst>
      <p:ext uri="{BB962C8B-B14F-4D97-AF65-F5344CB8AC3E}">
        <p14:creationId xmlns:p14="http://schemas.microsoft.com/office/powerpoint/2010/main" val="324886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7A82534-C32D-4FC2-BB57-44BDF1FD437A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38112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Logika output prediksi hierarkis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34576B-39CB-42D4-A0DF-6520AD9D9E1B}"/>
              </a:ext>
            </a:extLst>
          </p:cNvPr>
          <p:cNvSpPr>
            <a:spLocks noGrp="1"/>
          </p:cNvSpPr>
          <p:nvPr/>
        </p:nvSpPr>
        <p:spPr>
          <a:xfrm>
            <a:off x="14097000" y="8058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C9F901-1748-4659-8B41-68A4070F96C4}"/>
              </a:ext>
            </a:extLst>
          </p:cNvPr>
          <p:cNvSpPr>
            <a:spLocks noGrp="1"/>
          </p:cNvSpPr>
          <p:nvPr/>
        </p:nvSpPr>
        <p:spPr>
          <a:xfrm>
            <a:off x="666750" y="1638300"/>
            <a:ext cx="13906500" cy="1076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 = P(apendisitis | citra dan klinis)</a:t>
            </a:r>
          </a:p>
          <a:p>
            <a:pPr algn="l">
              <a:defRPr sz="2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q = P(complicated | apendisitis, citra dan klinis)</a:t>
            </a:r>
          </a:p>
        </p:txBody>
      </p:sp>
      <p:graphicFrame>
        <p:nvGraphicFramePr>
          <p:cNvPr id="12" name="Table 11"/>
          <p:cNvGraphicFramePr/>
          <p:nvPr/>
        </p:nvGraphicFramePr>
        <p:xfrm>
          <a:off x="666750" y="3200400"/>
          <a:ext cx="13906500" cy="2990850"/>
        </p:xfrm>
        <a:graphic>
          <a:graphicData uri="http://schemas.openxmlformats.org/drawingml/2006/table">
            <a:tbl>
              <a:tblPr/>
              <a:tblGrid>
                <a:gridCol w="619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Output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Probabilitas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Contoh p = 0,80 dan q = 0,25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Non-apendisitis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P₀ = 1 − p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0,20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Uncomplicated appendicitis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P₁ = p × (1 − q)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0,60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Complicated appendicitis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P₂ = p × q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0,20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3D187C1C-5DB2-48A8-9192-B345ACAFF34D}"/>
              </a:ext>
            </a:extLst>
          </p:cNvPr>
          <p:cNvSpPr>
            <a:spLocks noGrp="1"/>
          </p:cNvSpPr>
          <p:nvPr/>
        </p:nvSpPr>
        <p:spPr>
          <a:xfrm>
            <a:off x="666750" y="6448425"/>
            <a:ext cx="13906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Prediksi akhir: kelas dengan probabilitas terbesar. P₀ + P₁ + P₂ = 1.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709A6D-1F50-44E2-8089-74D7C4D7FB94}"/>
              </a:ext>
            </a:extLst>
          </p:cNvPr>
          <p:cNvSpPr>
            <a:spLocks noGrp="1"/>
          </p:cNvSpPr>
          <p:nvPr/>
        </p:nvSpPr>
        <p:spPr>
          <a:xfrm>
            <a:off x="666750" y="7143750"/>
            <a:ext cx="139065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Loss diagnosis: </a:t>
            </a:r>
            <a:r>
              <a:rPr sz="20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seluruh</a:t>
            </a:r>
            <a:r>
              <a:rPr sz="20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pasien</a:t>
            </a:r>
            <a:r>
              <a:rPr sz="20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 Loss </a:t>
            </a:r>
            <a:r>
              <a:rPr sz="20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komplikasi</a:t>
            </a:r>
            <a:r>
              <a:rPr sz="20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</a:t>
            </a:r>
            <a:r>
              <a:rPr sz="20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hanya</a:t>
            </a:r>
            <a:r>
              <a:rPr sz="20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pasien</a:t>
            </a:r>
            <a:r>
              <a:rPr sz="20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berlabel</a:t>
            </a:r>
            <a:r>
              <a:rPr sz="2025" b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25" b="0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apendisitis</a:t>
            </a:r>
            <a:r>
              <a:rPr lang="en-US" sz="2025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sz="2025" b="0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5922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8310EA-8ED8-42EE-A506-6A0A8C3AEA12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38112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 sz="337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</a:t>
            </a:r>
            <a:r>
              <a:rPr sz="337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onfigurasi</a:t>
            </a:r>
            <a:r>
              <a:rPr sz="337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337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pembanding</a:t>
            </a:r>
            <a:r>
              <a:rPr sz="3375" b="1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dan </a:t>
            </a:r>
            <a:r>
              <a:rPr sz="3375" b="1" dirty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evaluasi</a:t>
            </a:r>
            <a:endParaRPr sz="3375" b="1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DACEF9-0917-4B90-80BF-32D2ACDC69F8}"/>
              </a:ext>
            </a:extLst>
          </p:cNvPr>
          <p:cNvSpPr>
            <a:spLocks noGrp="1"/>
          </p:cNvSpPr>
          <p:nvPr/>
        </p:nvSpPr>
        <p:spPr>
          <a:xfrm>
            <a:off x="14097000" y="8058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6" name="Table 5"/>
          <p:cNvGraphicFramePr/>
          <p:nvPr/>
        </p:nvGraphicFramePr>
        <p:xfrm>
          <a:off x="666750" y="1666875"/>
          <a:ext cx="13906500" cy="6076950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Kode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Konfigurasi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Tujuan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B1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Klinis saja, MLP + dua head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Kontribusi tambahan citra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B2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Citra saja, dual attention + dua head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Kontribusi tambahan klinis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B3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Multimodal, mean pooling + dua head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Agregasi sederhana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B4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Multimodal, LSTM pooling + dua head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Pembanding primer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B5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Multimodal, shared attention + softmax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Klasifikasi langsung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B6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Multimodal, shared attention + dua head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Formulasi hierarki / attention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B7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Multimodal, dual attention + softmax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Pembanding dua head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Multimodal, dual attention + dua head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Model usulan</a:t>
                      </a:r>
                    </a:p>
                  </a:txBody>
                  <a:tcPr marL="114300" marR="114300" marT="114300" marB="1143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2968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90A824B-16C3-485E-A286-D5B832727851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38112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Referensi: citra dan multimodal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9ABE93-2411-4201-92C3-38F932F7FDE4}"/>
              </a:ext>
            </a:extLst>
          </p:cNvPr>
          <p:cNvSpPr>
            <a:spLocks noGrp="1"/>
          </p:cNvSpPr>
          <p:nvPr/>
        </p:nvSpPr>
        <p:spPr>
          <a:xfrm>
            <a:off x="14097000" y="8058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76E786-5AB7-44C6-8A92-A944721C0687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13906500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Marcinkevičs, R., et al. (2024). Interpretable and intervenable ultrasonography-based machine learning models for pediatric appendicitis. Medical Image Analysis, 91, 103042. https://doi.org/10.1016/j.media.2023.103042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3528E4-FEF1-46E8-A528-5573E7E97CEA}"/>
              </a:ext>
            </a:extLst>
          </p:cNvPr>
          <p:cNvSpPr>
            <a:spLocks noGrp="1"/>
          </p:cNvSpPr>
          <p:nvPr/>
        </p:nvSpPr>
        <p:spPr>
          <a:xfrm>
            <a:off x="666750" y="3152775"/>
            <a:ext cx="13906500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Barthwal, A., Goel, A. K., Chakrabarti, P., &amp; Bala Krishnan, S. (2026). Multimodal explainable AI approach to pediatric appendicitis detection: integrating clinical data and ultrasound images. Egyptian Pediatric Association Gazette, 74, 38. https://doi.org/10.1186/s43054-026-00540-5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769ABE-F693-4B5A-A442-CF0E1C749D46}"/>
              </a:ext>
            </a:extLst>
          </p:cNvPr>
          <p:cNvSpPr>
            <a:spLocks noGrp="1"/>
          </p:cNvSpPr>
          <p:nvPr/>
        </p:nvSpPr>
        <p:spPr>
          <a:xfrm>
            <a:off x="666750" y="4638675"/>
            <a:ext cx="13906500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Fernández Santana, C. L., Fernández Álvarez, G., Alonso, R. S., &amp; Negre, P. (2026). Enhanced Vision Transformer-based diagnosis of pediatric appendicitis using GAN-based data augmentation on ultrasound images. Knowledge-Based Systems, 351, 116640. https://doi.org/10.1016/j.knosys.2026.116640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BF3299-7EA1-4805-9B50-E19BB8E0CE57}"/>
              </a:ext>
            </a:extLst>
          </p:cNvPr>
          <p:cNvSpPr>
            <a:spLocks noGrp="1"/>
          </p:cNvSpPr>
          <p:nvPr/>
        </p:nvSpPr>
        <p:spPr>
          <a:xfrm>
            <a:off x="666750" y="6124575"/>
            <a:ext cx="13906500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Altintas Mese, C., Mese, I., &amp; Akinci D’Antonoli, T. (2026). Zero-shot performance of a general-purpose vision-language model for pediatric appendicitis diagnosis. Pediatric Radiology. https://doi.org/10.1007/s00247-026-06687-y</a:t>
            </a:r>
          </a:p>
        </p:txBody>
      </p:sp>
    </p:spTree>
    <p:extLst>
      <p:ext uri="{BB962C8B-B14F-4D97-AF65-F5344CB8AC3E}">
        <p14:creationId xmlns:p14="http://schemas.microsoft.com/office/powerpoint/2010/main" val="19189333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E01383F-EAF3-4CDF-B2E2-165030C4618E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38112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Referensi: tabular dan eksplorasi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A5B015-3EAD-4BDA-969E-33C71712824F}"/>
              </a:ext>
            </a:extLst>
          </p:cNvPr>
          <p:cNvSpPr>
            <a:spLocks noGrp="1"/>
          </p:cNvSpPr>
          <p:nvPr/>
        </p:nvSpPr>
        <p:spPr>
          <a:xfrm>
            <a:off x="14097000" y="8058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2E786E-108B-4D66-920E-01041B8C2EB0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13906500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Chadaga, K., et al. (2024). An interpretable and transparent machine learning framework for appendicitis detection in pediatric patients. Scientific Reports, 14, 24454. https://doi.org/10.1038/s41598-024-75896-y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617F89-0A41-49C1-AE7B-003A16E0B83E}"/>
              </a:ext>
            </a:extLst>
          </p:cNvPr>
          <p:cNvSpPr>
            <a:spLocks noGrp="1"/>
          </p:cNvSpPr>
          <p:nvPr/>
        </p:nvSpPr>
        <p:spPr>
          <a:xfrm>
            <a:off x="666750" y="3152775"/>
            <a:ext cx="13906500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Manohar, P., et al. (2025). A machine learning framework to predict the severity and management of pediatric appendicitis using clinical markers and five explainable techniques. Telematics and Informatics Reports, 20, 100271. https://doi.org/10.1016/j.teler.2025.100271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07682B-C522-429A-A212-CD3AC29A528D}"/>
              </a:ext>
            </a:extLst>
          </p:cNvPr>
          <p:cNvSpPr>
            <a:spLocks noGrp="1"/>
          </p:cNvSpPr>
          <p:nvPr/>
        </p:nvSpPr>
        <p:spPr>
          <a:xfrm>
            <a:off x="666750" y="4638675"/>
            <a:ext cx="13906500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Dyuthishree, A., et al. (2026). An interpretable machine learning framework for pediatric appendicitis and peritonitis diagnosis. Healthcare Analytics, 10, 100483. https://doi.org/10.1016/j.health.2026.100483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FF6892-831C-4C9C-9DCB-C2496CC1D8DC}"/>
              </a:ext>
            </a:extLst>
          </p:cNvPr>
          <p:cNvSpPr>
            <a:spLocks noGrp="1"/>
          </p:cNvSpPr>
          <p:nvPr/>
        </p:nvSpPr>
        <p:spPr>
          <a:xfrm>
            <a:off x="666750" y="6124575"/>
            <a:ext cx="13906500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Failli, D., Marino, M. F., &amp; Martella, F. (2025). A novel approach for biclustering bipartite networks: An extension of finite mixtures of latent trait analyzers. Journal of Classification, 42, 492–516. https://doi.org/10.1007/s00357-025-09500-x</a:t>
            </a:r>
          </a:p>
        </p:txBody>
      </p:sp>
    </p:spTree>
    <p:extLst>
      <p:ext uri="{BB962C8B-B14F-4D97-AF65-F5344CB8AC3E}">
        <p14:creationId xmlns:p14="http://schemas.microsoft.com/office/powerpoint/2010/main" val="9533360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BCB1969-4645-461A-9536-3E08250DAE72}"/>
              </a:ext>
            </a:extLst>
          </p:cNvPr>
          <p:cNvSpPr>
            <a:spLocks noGrp="1"/>
          </p:cNvSpPr>
          <p:nvPr/>
        </p:nvSpPr>
        <p:spPr>
          <a:xfrm>
            <a:off x="666750" y="457200"/>
            <a:ext cx="138112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Referensi: klinis, dataset, dan metodologi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40A88B-DB31-4D16-95D9-8B997D1DB4D2}"/>
              </a:ext>
            </a:extLst>
          </p:cNvPr>
          <p:cNvSpPr>
            <a:spLocks noGrp="1"/>
          </p:cNvSpPr>
          <p:nvPr/>
        </p:nvSpPr>
        <p:spPr>
          <a:xfrm>
            <a:off x="14097000" y="8058150"/>
            <a:ext cx="47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712530-7E09-4C26-A0CB-F7B9619FC2DF}"/>
              </a:ext>
            </a:extLst>
          </p:cNvPr>
          <p:cNvSpPr>
            <a:spLocks noGrp="1"/>
          </p:cNvSpPr>
          <p:nvPr/>
        </p:nvSpPr>
        <p:spPr>
          <a:xfrm>
            <a:off x="666750" y="1666875"/>
            <a:ext cx="139065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 Saverio, S., et al. (2020). Diagnosis and treatment of acute appendicitis: 2020 update of the WSES Jerusalem guidelines. World Journal of Emergency Surgery, 15, 27. https://doi.org/10.1186/s13017-020-00306-3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501B3F-E217-41B2-80DE-10B8B1507F3E}"/>
              </a:ext>
            </a:extLst>
          </p:cNvPr>
          <p:cNvSpPr>
            <a:spLocks noGrp="1"/>
          </p:cNvSpPr>
          <p:nvPr/>
        </p:nvSpPr>
        <p:spPr>
          <a:xfrm>
            <a:off x="666750" y="2905125"/>
            <a:ext cx="139065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Marcinkevičs, R., et al. (2023). Regensburg Pediatric Appendicitis Dataset, version 1.03. Zenodo. https://doi.org/10.5281/zenodo.7711412.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BD9F27-263D-4867-8877-3ADFCAB0F8E0}"/>
              </a:ext>
            </a:extLst>
          </p:cNvPr>
          <p:cNvSpPr>
            <a:spLocks noGrp="1"/>
          </p:cNvSpPr>
          <p:nvPr/>
        </p:nvSpPr>
        <p:spPr>
          <a:xfrm>
            <a:off x="666750" y="4143375"/>
            <a:ext cx="139065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Ilse, M., Tomczak, J., &amp; Welling, M. (2018). Attention-based deep multiple instance learning. PMLR, 80, 2127–2136. https://proceedings.mlr.press/v80/ilse18a.html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299238-24DE-45B4-BDA1-25A8AE1AC176}"/>
              </a:ext>
            </a:extLst>
          </p:cNvPr>
          <p:cNvSpPr>
            <a:spLocks noGrp="1"/>
          </p:cNvSpPr>
          <p:nvPr/>
        </p:nvSpPr>
        <p:spPr>
          <a:xfrm>
            <a:off x="666750" y="5381625"/>
            <a:ext cx="139065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Kapoor, S., &amp; Narayanan, A. (2023). Leakage and the reproducibility crisis in machine-learning-based science. Patterns, 4(9), 100804. https://doi.org/10.1016/j.patter.2023.100804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122EF9-EC6D-4EFB-855B-D44840459224}"/>
              </a:ext>
            </a:extLst>
          </p:cNvPr>
          <p:cNvSpPr>
            <a:spLocks noGrp="1"/>
          </p:cNvSpPr>
          <p:nvPr/>
        </p:nvSpPr>
        <p:spPr>
          <a:xfrm>
            <a:off x="666750" y="6619875"/>
            <a:ext cx="1390650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Collins, G. S., et al. (2024). TRIPOD+AI statement: updated guidance for reporting clinical prediction models that use regression or machine learning methods. BMJ, 385, e078378. https://doi.org/10.1136/bmj-2023-078378</a:t>
            </a:r>
          </a:p>
        </p:txBody>
      </p:sp>
    </p:spTree>
    <p:extLst>
      <p:ext uri="{BB962C8B-B14F-4D97-AF65-F5344CB8AC3E}">
        <p14:creationId xmlns:p14="http://schemas.microsoft.com/office/powerpoint/2010/main" val="81915621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</TotalTime>
  <Words>2413</Words>
  <Application>Microsoft Office PowerPoint</Application>
  <DocSecurity>0</DocSecurity>
  <PresentationFormat>Custom</PresentationFormat>
  <Paragraphs>292</Paragraphs>
  <Slides>18</Slides>
  <Notes>18</Notes>
  <HiddenSlides>10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Adnan Fauzan Ramdhani</dc:creator>
  <cp:lastModifiedBy>Adnan Fauzan Ramdhani</cp:lastModifiedBy>
  <cp:revision>5</cp:revision>
  <dcterms:created xsi:type="dcterms:W3CDTF">2026-10-05T08:08:16Z</dcterms:created>
  <dcterms:modified xsi:type="dcterms:W3CDTF">2026-10-07T05:14:47Z</dcterms:modified>
</cp:coreProperties>
</file>